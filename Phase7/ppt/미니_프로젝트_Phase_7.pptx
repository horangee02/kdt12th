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13716000" cx="24384000"/>
  <p:notesSz cx="6858000" cy="9144000"/>
  <p:embeddedFontLst>
    <p:embeddedFont>
      <p:font typeface="Noto Sans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4" roundtripDataSignature="AMtx7mjHy0Yqmu1wXQghVCc9kYcUZQcd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89437E-92BA-49BE-A26C-EBE7FB27BBBE}">
  <a:tblStyle styleId="{E689437E-92BA-49BE-A26C-EBE7FB27BB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customschemas.google.com/relationships/presentationmetadata" Target="metadata"/><Relationship Id="rId83" Type="http://schemas.openxmlformats.org/officeDocument/2006/relationships/font" Target="fonts/NotoSans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NotoSans-regular.fntdata"/><Relationship Id="rId82" Type="http://schemas.openxmlformats.org/officeDocument/2006/relationships/font" Target="fonts/NotoSans-italic.fntdata"/><Relationship Id="rId81" Type="http://schemas.openxmlformats.org/officeDocument/2006/relationships/font" Target="fonts/No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4a498960b_1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4a498960b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bfa6e77b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cbfa6e77b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bfa6e77bc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cbfa6e77bc_3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bfa6e77bc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cbfa6e77bc_3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bfa6e77bc_2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cbfa6e77bc_2_6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bfa6e77bc_2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cbfa6e77bc_2_8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bfa6e77bc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cbfa6e77bc_3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bfa6e77bc_2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cbfa6e77bc_2_1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bfa6e77bc_3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cbfa6e77bc_3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bfa6e77bc_3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cbfa6e77bc_3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bfa6e77bc_2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cbfa6e77bc_2_7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bfa6e77bc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cbfa6e77bc_2_7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bfa6e77b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cbfa6e77bc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c4a498960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c4a498960b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4a498960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c4a498960b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c4a498960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c4a498960b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4a498960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c4a498960b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4a498960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c4a498960b_0_3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c4a498960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c4a498960b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c4a498960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c4a498960b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4a498960b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c4a498960b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c4a498960b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c4a498960b_0_3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c4a498960b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c4a498960b_0_5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c4a498960b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c4a498960b_0_5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4a498960b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g3c4a498960b_0_6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c4a498960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c4a498960b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c4a498960b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c4a498960b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c4a498960b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c4a498960b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c4a498960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c4a498960b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4a498960b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c4a498960b_0_5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c4a498960b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c4a498960b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4a498960b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c4a498960b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c4a498960b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c4a498960b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c4a498960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3c4a498960b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c4a498960b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3c4a498960b_0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c4a498960b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c4a498960b_0_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c4a498960b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c4a498960b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4a498960b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c4a498960b_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cbfa6e77bc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cbfa6e77bc_1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cbfa6e77bc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834" name="Google Shape;834;g3cbfa6e77bc_2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c4a498960b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47" name="Google Shape;847;g3c4a498960b_2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c4a498960b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3c4a498960b_2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c4a498960b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sp>
        <p:nvSpPr>
          <p:cNvPr id="866" name="Google Shape;866;g3c4a498960b_2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c4a498960b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76" name="Google Shape;876;g3c4a498960b_2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4a498960b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90" name="Google Shape;890;g3c4a498960b_2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4a498960b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899" name="Google Shape;899;g3c4a498960b_2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c4a498960b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09" name="Google Shape;909;g3c4a498960b_2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c4a498960b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918" name="Google Shape;918;g3c4a498960b_2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c4a498960b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c4a498960b_2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cbfa6e77bc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g3cbfa6e77bc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c4a498960b_1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c4a498960b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cbfa6e77bc_2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cbfa6e77bc_2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c4a498960b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c4a498960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c4a498960b_1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c4a498960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c4a498960b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c4a498960b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c4a498960b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c4a498960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c4a498960b_1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c4a498960b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c4a498960b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c4a498960b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c4a498960b_1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c4a498960b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c4a498960b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c4a498960b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c4a498960b_1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c4a498960b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c4a498960b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g3c4a498960b_0_6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2.png"/><Relationship Id="rId13" Type="http://schemas.openxmlformats.org/officeDocument/2006/relationships/image" Target="../media/image5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2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15" Type="http://schemas.openxmlformats.org/officeDocument/2006/relationships/image" Target="../media/image7.png"/><Relationship Id="rId1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11" Type="http://schemas.openxmlformats.org/officeDocument/2006/relationships/image" Target="../media/image44.png"/><Relationship Id="rId10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25.png"/><Relationship Id="rId15" Type="http://schemas.openxmlformats.org/officeDocument/2006/relationships/image" Target="../media/image33.png"/><Relationship Id="rId14" Type="http://schemas.openxmlformats.org/officeDocument/2006/relationships/image" Target="../media/image57.png"/><Relationship Id="rId17" Type="http://schemas.openxmlformats.org/officeDocument/2006/relationships/image" Target="../media/image56.png"/><Relationship Id="rId16" Type="http://schemas.openxmlformats.org/officeDocument/2006/relationships/image" Target="../media/image47.png"/><Relationship Id="rId5" Type="http://schemas.openxmlformats.org/officeDocument/2006/relationships/image" Target="../media/image16.png"/><Relationship Id="rId19" Type="http://schemas.openxmlformats.org/officeDocument/2006/relationships/image" Target="../media/image45.png"/><Relationship Id="rId6" Type="http://schemas.openxmlformats.org/officeDocument/2006/relationships/image" Target="../media/image14.png"/><Relationship Id="rId18" Type="http://schemas.openxmlformats.org/officeDocument/2006/relationships/image" Target="../media/image60.png"/><Relationship Id="rId7" Type="http://schemas.openxmlformats.org/officeDocument/2006/relationships/image" Target="../media/image24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35.png"/><Relationship Id="rId13" Type="http://schemas.openxmlformats.org/officeDocument/2006/relationships/image" Target="../media/image41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34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Relationship Id="rId7" Type="http://schemas.openxmlformats.org/officeDocument/2006/relationships/image" Target="../media/image55.png"/><Relationship Id="rId8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9" Type="http://schemas.openxmlformats.org/officeDocument/2006/relationships/image" Target="../media/image42.png"/><Relationship Id="rId5" Type="http://schemas.openxmlformats.org/officeDocument/2006/relationships/image" Target="../media/image53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37.png"/><Relationship Id="rId6" Type="http://schemas.openxmlformats.org/officeDocument/2006/relationships/image" Target="../media/image14.png"/><Relationship Id="rId7" Type="http://schemas.openxmlformats.org/officeDocument/2006/relationships/image" Target="../media/image54.png"/><Relationship Id="rId8" Type="http://schemas.openxmlformats.org/officeDocument/2006/relationships/image" Target="../media/image6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58.png"/><Relationship Id="rId1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87.png"/><Relationship Id="rId5" Type="http://schemas.openxmlformats.org/officeDocument/2006/relationships/image" Target="../media/image37.png"/><Relationship Id="rId6" Type="http://schemas.openxmlformats.org/officeDocument/2006/relationships/image" Target="../media/image14.png"/><Relationship Id="rId7" Type="http://schemas.openxmlformats.org/officeDocument/2006/relationships/image" Target="../media/image59.png"/><Relationship Id="rId8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8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6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04.png"/><Relationship Id="rId6" Type="http://schemas.openxmlformats.org/officeDocument/2006/relationships/image" Target="../media/image7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71.png"/><Relationship Id="rId13" Type="http://schemas.openxmlformats.org/officeDocument/2006/relationships/image" Target="../media/image90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Relationship Id="rId4" Type="http://schemas.openxmlformats.org/officeDocument/2006/relationships/image" Target="../media/image37.png"/><Relationship Id="rId9" Type="http://schemas.openxmlformats.org/officeDocument/2006/relationships/image" Target="../media/image79.png"/><Relationship Id="rId14" Type="http://schemas.openxmlformats.org/officeDocument/2006/relationships/image" Target="../media/image94.png"/><Relationship Id="rId5" Type="http://schemas.openxmlformats.org/officeDocument/2006/relationships/image" Target="../media/image14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image" Target="../media/image6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Relationship Id="rId9" Type="http://schemas.openxmlformats.org/officeDocument/2006/relationships/image" Target="../media/image124.png"/><Relationship Id="rId5" Type="http://schemas.openxmlformats.org/officeDocument/2006/relationships/image" Target="../media/image37.png"/><Relationship Id="rId6" Type="http://schemas.openxmlformats.org/officeDocument/2006/relationships/image" Target="../media/image14.png"/><Relationship Id="rId7" Type="http://schemas.openxmlformats.org/officeDocument/2006/relationships/image" Target="../media/image73.png"/><Relationship Id="rId8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0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9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76.png"/><Relationship Id="rId6" Type="http://schemas.openxmlformats.org/officeDocument/2006/relationships/image" Target="../media/image16.png"/><Relationship Id="rId7" Type="http://schemas.openxmlformats.org/officeDocument/2006/relationships/image" Target="../media/image103.png"/><Relationship Id="rId8" Type="http://schemas.openxmlformats.org/officeDocument/2006/relationships/image" Target="../media/image9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7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9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76.png"/><Relationship Id="rId6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8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8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8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8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8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9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8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91.png"/><Relationship Id="rId6" Type="http://schemas.openxmlformats.org/officeDocument/2006/relationships/image" Target="../media/image10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33.png"/><Relationship Id="rId6" Type="http://schemas.openxmlformats.org/officeDocument/2006/relationships/image" Target="../media/image10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64.png"/><Relationship Id="rId6" Type="http://schemas.openxmlformats.org/officeDocument/2006/relationships/image" Target="../media/image9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12.png"/><Relationship Id="rId6" Type="http://schemas.openxmlformats.org/officeDocument/2006/relationships/image" Target="../media/image10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9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96.png"/><Relationship Id="rId6" Type="http://schemas.openxmlformats.org/officeDocument/2006/relationships/image" Target="../media/image10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14.png"/><Relationship Id="rId6" Type="http://schemas.openxmlformats.org/officeDocument/2006/relationships/image" Target="../media/image1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0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47.png"/><Relationship Id="rId6" Type="http://schemas.openxmlformats.org/officeDocument/2006/relationships/image" Target="../media/image1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21.png"/><Relationship Id="rId6" Type="http://schemas.openxmlformats.org/officeDocument/2006/relationships/image" Target="../media/image1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4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4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46.png"/><Relationship Id="rId6" Type="http://schemas.openxmlformats.org/officeDocument/2006/relationships/image" Target="../media/image1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28.png"/><Relationship Id="rId6" Type="http://schemas.openxmlformats.org/officeDocument/2006/relationships/image" Target="../media/image1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Relationship Id="rId4" Type="http://schemas.openxmlformats.org/officeDocument/2006/relationships/image" Target="../media/image134.png"/><Relationship Id="rId5" Type="http://schemas.openxmlformats.org/officeDocument/2006/relationships/image" Target="../media/image119.png"/><Relationship Id="rId6" Type="http://schemas.openxmlformats.org/officeDocument/2006/relationships/image" Target="../media/image126.png"/><Relationship Id="rId7" Type="http://schemas.openxmlformats.org/officeDocument/2006/relationships/image" Target="../media/image1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4.png"/><Relationship Id="rId4" Type="http://schemas.openxmlformats.org/officeDocument/2006/relationships/image" Target="../media/image123.png"/><Relationship Id="rId5" Type="http://schemas.openxmlformats.org/officeDocument/2006/relationships/image" Target="../media/image1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Relationship Id="rId4" Type="http://schemas.openxmlformats.org/officeDocument/2006/relationships/image" Target="../media/image122.png"/><Relationship Id="rId5" Type="http://schemas.openxmlformats.org/officeDocument/2006/relationships/image" Target="../media/image1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Relationship Id="rId4" Type="http://schemas.openxmlformats.org/officeDocument/2006/relationships/image" Target="../media/image157.png"/><Relationship Id="rId5" Type="http://schemas.openxmlformats.org/officeDocument/2006/relationships/image" Target="../media/image1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Relationship Id="rId4" Type="http://schemas.openxmlformats.org/officeDocument/2006/relationships/image" Target="../media/image125.png"/><Relationship Id="rId5" Type="http://schemas.openxmlformats.org/officeDocument/2006/relationships/image" Target="../media/image127.png"/><Relationship Id="rId6" Type="http://schemas.openxmlformats.org/officeDocument/2006/relationships/image" Target="../media/image129.png"/><Relationship Id="rId7" Type="http://schemas.openxmlformats.org/officeDocument/2006/relationships/image" Target="../media/image137.png"/><Relationship Id="rId8" Type="http://schemas.openxmlformats.org/officeDocument/2006/relationships/image" Target="../media/image1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Relationship Id="rId4" Type="http://schemas.openxmlformats.org/officeDocument/2006/relationships/image" Target="../media/image136.png"/><Relationship Id="rId5" Type="http://schemas.openxmlformats.org/officeDocument/2006/relationships/image" Target="../media/image1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png"/><Relationship Id="rId4" Type="http://schemas.openxmlformats.org/officeDocument/2006/relationships/image" Target="../media/image130.png"/><Relationship Id="rId5" Type="http://schemas.openxmlformats.org/officeDocument/2006/relationships/image" Target="../media/image1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.png"/><Relationship Id="rId4" Type="http://schemas.openxmlformats.org/officeDocument/2006/relationships/image" Target="../media/image132.png"/><Relationship Id="rId5" Type="http://schemas.openxmlformats.org/officeDocument/2006/relationships/image" Target="../media/image1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png"/><Relationship Id="rId4" Type="http://schemas.openxmlformats.org/officeDocument/2006/relationships/image" Target="../media/image131.png"/><Relationship Id="rId5" Type="http://schemas.openxmlformats.org/officeDocument/2006/relationships/image" Target="../media/image1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4.png"/><Relationship Id="rId4" Type="http://schemas.openxmlformats.org/officeDocument/2006/relationships/image" Target="../media/image118.png"/><Relationship Id="rId5" Type="http://schemas.openxmlformats.org/officeDocument/2006/relationships/image" Target="../media/image1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.png"/><Relationship Id="rId4" Type="http://schemas.openxmlformats.org/officeDocument/2006/relationships/image" Target="../media/image145.png"/><Relationship Id="rId5" Type="http://schemas.openxmlformats.org/officeDocument/2006/relationships/image" Target="../media/image143.png"/><Relationship Id="rId6" Type="http://schemas.openxmlformats.org/officeDocument/2006/relationships/image" Target="../media/image1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4.png"/><Relationship Id="rId4" Type="http://schemas.openxmlformats.org/officeDocument/2006/relationships/image" Target="../media/image48.png"/><Relationship Id="rId5" Type="http://schemas.openxmlformats.org/officeDocument/2006/relationships/image" Target="../media/image61.png"/><Relationship Id="rId6" Type="http://schemas.openxmlformats.org/officeDocument/2006/relationships/image" Target="../media/image174.png"/><Relationship Id="rId7" Type="http://schemas.openxmlformats.org/officeDocument/2006/relationships/image" Target="../media/image1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4.png"/><Relationship Id="rId4" Type="http://schemas.openxmlformats.org/officeDocument/2006/relationships/image" Target="../media/image48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1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4.png"/><Relationship Id="rId4" Type="http://schemas.openxmlformats.org/officeDocument/2006/relationships/image" Target="../media/image175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Relationship Id="rId7" Type="http://schemas.openxmlformats.org/officeDocument/2006/relationships/image" Target="../media/image1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4.png"/><Relationship Id="rId4" Type="http://schemas.openxmlformats.org/officeDocument/2006/relationships/image" Target="../media/image140.png"/><Relationship Id="rId5" Type="http://schemas.openxmlformats.org/officeDocument/2006/relationships/image" Target="../media/image142.png"/><Relationship Id="rId6" Type="http://schemas.openxmlformats.org/officeDocument/2006/relationships/image" Target="../media/image1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.png"/><Relationship Id="rId4" Type="http://schemas.openxmlformats.org/officeDocument/2006/relationships/image" Target="../media/image176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Relationship Id="rId7" Type="http://schemas.openxmlformats.org/officeDocument/2006/relationships/image" Target="../media/image1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4.png"/><Relationship Id="rId4" Type="http://schemas.openxmlformats.org/officeDocument/2006/relationships/image" Target="../media/image144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Relationship Id="rId7" Type="http://schemas.openxmlformats.org/officeDocument/2006/relationships/image" Target="../media/image1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4.png"/><Relationship Id="rId4" Type="http://schemas.openxmlformats.org/officeDocument/2006/relationships/image" Target="../media/image163.png"/><Relationship Id="rId5" Type="http://schemas.openxmlformats.org/officeDocument/2006/relationships/image" Target="../media/image156.png"/><Relationship Id="rId6" Type="http://schemas.openxmlformats.org/officeDocument/2006/relationships/image" Target="../media/image1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8.png"/><Relationship Id="rId4" Type="http://schemas.openxmlformats.org/officeDocument/2006/relationships/image" Target="../media/image61.png"/><Relationship Id="rId5" Type="http://schemas.openxmlformats.org/officeDocument/2006/relationships/image" Target="../media/image14.png"/><Relationship Id="rId6" Type="http://schemas.openxmlformats.org/officeDocument/2006/relationships/image" Target="../media/image173.png"/><Relationship Id="rId7" Type="http://schemas.openxmlformats.org/officeDocument/2006/relationships/image" Target="../media/image1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4.png"/><Relationship Id="rId4" Type="http://schemas.openxmlformats.org/officeDocument/2006/relationships/image" Target="../media/image168.png"/><Relationship Id="rId5" Type="http://schemas.openxmlformats.org/officeDocument/2006/relationships/image" Target="../media/image160.png"/><Relationship Id="rId6" Type="http://schemas.openxmlformats.org/officeDocument/2006/relationships/image" Target="../media/image16.png"/></Relationships>
</file>

<file path=ppt/slides/_rels/slide7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4.png"/><Relationship Id="rId4" Type="http://schemas.openxmlformats.org/officeDocument/2006/relationships/image" Target="../media/image172.png"/><Relationship Id="rId9" Type="http://schemas.openxmlformats.org/officeDocument/2006/relationships/image" Target="../media/image61.png"/><Relationship Id="rId5" Type="http://schemas.openxmlformats.org/officeDocument/2006/relationships/image" Target="../media/image156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48.png"/></Relationships>
</file>

<file path=ppt/slides/_rels/slide7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6.png"/><Relationship Id="rId10" Type="http://schemas.openxmlformats.org/officeDocument/2006/relationships/image" Target="../media/image1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2.png"/><Relationship Id="rId4" Type="http://schemas.openxmlformats.org/officeDocument/2006/relationships/image" Target="../media/image16.png"/><Relationship Id="rId9" Type="http://schemas.openxmlformats.org/officeDocument/2006/relationships/image" Target="../media/image158.png"/><Relationship Id="rId5" Type="http://schemas.openxmlformats.org/officeDocument/2006/relationships/image" Target="../media/image14.png"/><Relationship Id="rId6" Type="http://schemas.openxmlformats.org/officeDocument/2006/relationships/image" Target="../media/image153.png"/><Relationship Id="rId7" Type="http://schemas.openxmlformats.org/officeDocument/2006/relationships/image" Target="../media/image159.png"/><Relationship Id="rId8" Type="http://schemas.openxmlformats.org/officeDocument/2006/relationships/image" Target="../media/image15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8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384300" y="2908300"/>
            <a:ext cx="11277600" cy="48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600" lIns="0" spcFirstLastPara="1" rIns="0" wrap="square" tIns="102600">
            <a:noAutofit/>
          </a:bodyPr>
          <a:lstStyle/>
          <a:p>
            <a:pPr indent="0" lvl="0" marL="0" marR="0" rtl="0" algn="l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당신의</a:t>
            </a:r>
            <a:endParaRPr/>
          </a:p>
          <a:p>
            <a:pPr indent="0" lvl="0" marL="0" marR="0" rtl="0" algn="l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MBTI는?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7493000"/>
            <a:ext cx="88011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4300" y="5207000"/>
            <a:ext cx="86995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384300" y="1943100"/>
            <a:ext cx="11000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250" lIns="0" spcFirstLastPara="1" rIns="0" wrap="square" tIns="53250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3">
                <a:solidFill>
                  <a:srgbClr val="9964A3"/>
                </a:solidFill>
              </a:rPr>
              <a:t>혈액형과 MBTI</a:t>
            </a:r>
            <a:r>
              <a:rPr b="1" i="0" lang="en-US" sz="4933" u="none" cap="none" strike="noStrike">
                <a:solidFill>
                  <a:srgbClr val="9964A3"/>
                </a:solidFill>
                <a:latin typeface="Arial"/>
                <a:ea typeface="Arial"/>
                <a:cs typeface="Arial"/>
                <a:sym typeface="Arial"/>
              </a:rPr>
              <a:t>는 과학인가</a:t>
            </a:r>
            <a:r>
              <a:rPr b="1" lang="en-US" sz="4933">
                <a:solidFill>
                  <a:srgbClr val="9964A3"/>
                </a:solidFill>
              </a:rPr>
              <a:t>? </a:t>
            </a:r>
            <a:r>
              <a:rPr b="1" i="0" lang="en-US" sz="4933" u="none" cap="none" strike="noStrike">
                <a:solidFill>
                  <a:srgbClr val="9964A3"/>
                </a:solidFill>
                <a:latin typeface="Arial"/>
                <a:ea typeface="Arial"/>
                <a:cs typeface="Arial"/>
                <a:sym typeface="Arial"/>
              </a:rPr>
              <a:t>미신인가?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42200" y="19558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28500" y="99441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42200" y="99441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10800000">
            <a:off x="20142200" y="4699000"/>
            <a:ext cx="2705100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6141700" y="8686800"/>
            <a:ext cx="2705100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3600000">
            <a:off x="14884400" y="71882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637500" y="11417300"/>
            <a:ext cx="1727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586700" y="10414000"/>
            <a:ext cx="18161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20485100" y="117094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25" lIns="0" spcFirstLastPara="1" rIns="0" wrap="square" tIns="135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KDT 12기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68300" y="469900"/>
            <a:ext cx="29337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09900" y="-342900"/>
            <a:ext cx="41910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461000" y="508000"/>
            <a:ext cx="63500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703100" y="10966450"/>
            <a:ext cx="138003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33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TEAM 2 - 장윤진, 박준영, 이유경, 이창민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387600" y="4483100"/>
            <a:ext cx="457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387600" y="6604000"/>
            <a:ext cx="457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387600" y="8712200"/>
            <a:ext cx="457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387600" y="10845800"/>
            <a:ext cx="457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303000" y="4483100"/>
            <a:ext cx="457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303000" y="6604000"/>
            <a:ext cx="457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303000" y="8712200"/>
            <a:ext cx="457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303000" y="10845800"/>
            <a:ext cx="4572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2921000" y="4140200"/>
            <a:ext cx="45975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47">
                <a:solidFill>
                  <a:srgbClr val="9964A3"/>
                </a:solidFill>
              </a:rPr>
              <a:t>팀 소개</a:t>
            </a:r>
            <a:endParaRPr b="1"/>
          </a:p>
        </p:txBody>
      </p:sp>
      <p:sp>
        <p:nvSpPr>
          <p:cNvPr id="114" name="Google Shape;114;p2"/>
          <p:cNvSpPr txBox="1"/>
          <p:nvPr/>
        </p:nvSpPr>
        <p:spPr>
          <a:xfrm>
            <a:off x="1587500" y="41783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01</a:t>
            </a:r>
            <a:endParaRPr b="1"/>
          </a:p>
        </p:txBody>
      </p:sp>
      <p:sp>
        <p:nvSpPr>
          <p:cNvPr id="115" name="Google Shape;115;p2"/>
          <p:cNvSpPr txBox="1"/>
          <p:nvPr/>
        </p:nvSpPr>
        <p:spPr>
          <a:xfrm>
            <a:off x="2921000" y="6261100"/>
            <a:ext cx="45974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47">
                <a:solidFill>
                  <a:srgbClr val="9964A3"/>
                </a:solidFill>
              </a:rPr>
              <a:t>프로젝트 개요</a:t>
            </a:r>
            <a:endParaRPr b="1"/>
          </a:p>
        </p:txBody>
      </p:sp>
      <p:sp>
        <p:nvSpPr>
          <p:cNvPr id="116" name="Google Shape;116;p2"/>
          <p:cNvSpPr txBox="1"/>
          <p:nvPr/>
        </p:nvSpPr>
        <p:spPr>
          <a:xfrm>
            <a:off x="1587500" y="62992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02</a:t>
            </a:r>
            <a:endParaRPr b="1"/>
          </a:p>
        </p:txBody>
      </p:sp>
      <p:sp>
        <p:nvSpPr>
          <p:cNvPr id="117" name="Google Shape;117;p2"/>
          <p:cNvSpPr txBox="1"/>
          <p:nvPr/>
        </p:nvSpPr>
        <p:spPr>
          <a:xfrm>
            <a:off x="2921000" y="8382000"/>
            <a:ext cx="45974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47">
                <a:solidFill>
                  <a:srgbClr val="9964A3"/>
                </a:solidFill>
              </a:rPr>
              <a:t>주제 선정 배경</a:t>
            </a:r>
            <a:endParaRPr b="1"/>
          </a:p>
        </p:txBody>
      </p:sp>
      <p:sp>
        <p:nvSpPr>
          <p:cNvPr id="118" name="Google Shape;118;p2"/>
          <p:cNvSpPr txBox="1"/>
          <p:nvPr/>
        </p:nvSpPr>
        <p:spPr>
          <a:xfrm>
            <a:off x="1587500" y="84201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03</a:t>
            </a:r>
            <a:endParaRPr b="1"/>
          </a:p>
        </p:txBody>
      </p:sp>
      <p:sp>
        <p:nvSpPr>
          <p:cNvPr id="119" name="Google Shape;119;p2"/>
          <p:cNvSpPr txBox="1"/>
          <p:nvPr/>
        </p:nvSpPr>
        <p:spPr>
          <a:xfrm>
            <a:off x="2921000" y="10502900"/>
            <a:ext cx="45975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47">
                <a:solidFill>
                  <a:srgbClr val="9964A3"/>
                </a:solidFill>
              </a:rPr>
              <a:t>데이터 출처</a:t>
            </a:r>
            <a:endParaRPr b="1"/>
          </a:p>
        </p:txBody>
      </p:sp>
      <p:sp>
        <p:nvSpPr>
          <p:cNvPr id="120" name="Google Shape;120;p2"/>
          <p:cNvSpPr txBox="1"/>
          <p:nvPr/>
        </p:nvSpPr>
        <p:spPr>
          <a:xfrm>
            <a:off x="1587500" y="105410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04</a:t>
            </a:r>
            <a:endParaRPr b="1"/>
          </a:p>
        </p:txBody>
      </p:sp>
      <p:sp>
        <p:nvSpPr>
          <p:cNvPr id="121" name="Google Shape;121;p2"/>
          <p:cNvSpPr txBox="1"/>
          <p:nvPr/>
        </p:nvSpPr>
        <p:spPr>
          <a:xfrm>
            <a:off x="11836400" y="4140200"/>
            <a:ext cx="45974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4147">
                <a:solidFill>
                  <a:srgbClr val="9964A3"/>
                </a:solidFill>
              </a:rPr>
              <a:t>데이터 분석</a:t>
            </a:r>
            <a:endParaRPr b="1"/>
          </a:p>
        </p:txBody>
      </p:sp>
      <p:sp>
        <p:nvSpPr>
          <p:cNvPr id="122" name="Google Shape;122;p2"/>
          <p:cNvSpPr txBox="1"/>
          <p:nvPr/>
        </p:nvSpPr>
        <p:spPr>
          <a:xfrm>
            <a:off x="10515600" y="41783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05</a:t>
            </a:r>
            <a:endParaRPr b="1"/>
          </a:p>
        </p:txBody>
      </p:sp>
      <p:sp>
        <p:nvSpPr>
          <p:cNvPr id="123" name="Google Shape;123;p2"/>
          <p:cNvSpPr txBox="1"/>
          <p:nvPr/>
        </p:nvSpPr>
        <p:spPr>
          <a:xfrm>
            <a:off x="11836400" y="6261100"/>
            <a:ext cx="45974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47">
                <a:solidFill>
                  <a:srgbClr val="9964A3"/>
                </a:solidFill>
              </a:rPr>
              <a:t>데이터 시각화</a:t>
            </a:r>
            <a:endParaRPr b="1"/>
          </a:p>
        </p:txBody>
      </p:sp>
      <p:sp>
        <p:nvSpPr>
          <p:cNvPr id="124" name="Google Shape;124;p2"/>
          <p:cNvSpPr txBox="1"/>
          <p:nvPr/>
        </p:nvSpPr>
        <p:spPr>
          <a:xfrm>
            <a:off x="10515600" y="62992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06</a:t>
            </a:r>
            <a:endParaRPr b="1"/>
          </a:p>
        </p:txBody>
      </p:sp>
      <p:sp>
        <p:nvSpPr>
          <p:cNvPr id="125" name="Google Shape;125;p2"/>
          <p:cNvSpPr txBox="1"/>
          <p:nvPr/>
        </p:nvSpPr>
        <p:spPr>
          <a:xfrm>
            <a:off x="11836400" y="8382000"/>
            <a:ext cx="45974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47">
                <a:solidFill>
                  <a:srgbClr val="9964A3"/>
                </a:solidFill>
              </a:rPr>
              <a:t>최종 결론</a:t>
            </a:r>
            <a:endParaRPr b="1"/>
          </a:p>
        </p:txBody>
      </p:sp>
      <p:sp>
        <p:nvSpPr>
          <p:cNvPr id="126" name="Google Shape;126;p2"/>
          <p:cNvSpPr txBox="1"/>
          <p:nvPr/>
        </p:nvSpPr>
        <p:spPr>
          <a:xfrm>
            <a:off x="10515600" y="84201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127" name="Google Shape;127;p2"/>
          <p:cNvSpPr txBox="1"/>
          <p:nvPr/>
        </p:nvSpPr>
        <p:spPr>
          <a:xfrm>
            <a:off x="11836400" y="10502900"/>
            <a:ext cx="45974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975" lIns="0" spcFirstLastPara="1" rIns="0" wrap="square" tIns="359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47">
                <a:solidFill>
                  <a:srgbClr val="9964A3"/>
                </a:solidFill>
              </a:rPr>
              <a:t>자체 평가 및 Q&amp;A</a:t>
            </a:r>
            <a:endParaRPr b="1"/>
          </a:p>
        </p:txBody>
      </p:sp>
      <p:sp>
        <p:nvSpPr>
          <p:cNvPr id="128" name="Google Shape;128;p2"/>
          <p:cNvSpPr txBox="1"/>
          <p:nvPr/>
        </p:nvSpPr>
        <p:spPr>
          <a:xfrm>
            <a:off x="10515600" y="10541000"/>
            <a:ext cx="8763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100" lIns="0" spcFirstLastPara="1" rIns="0" wrap="square" tIns="331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15" u="none" cap="none" strike="noStrike">
                <a:solidFill>
                  <a:srgbClr val="9964A3"/>
                </a:solidFill>
              </a:rPr>
              <a:t>08</a:t>
            </a:r>
            <a:endParaRPr b="1"/>
          </a:p>
        </p:txBody>
      </p:sp>
      <p:pic>
        <p:nvPicPr>
          <p:cNvPr id="129" name="Google Shape;12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40000">
            <a:off x="20002500" y="39116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760000">
            <a:off x="17716500" y="5956300"/>
            <a:ext cx="2705100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8760000">
            <a:off x="16776700" y="8877300"/>
            <a:ext cx="2705100" cy="92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 txBox="1"/>
          <p:nvPr/>
        </p:nvSpPr>
        <p:spPr>
          <a:xfrm>
            <a:off x="1498600" y="2298700"/>
            <a:ext cx="49022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825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4B4B4B"/>
                </a:solidFill>
              </a:rPr>
              <a:t>Contents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9702800" y="5626100"/>
            <a:ext cx="4914900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0287000" y="62230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2108200" y="800100"/>
            <a:ext cx="6070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팀 소개</a:t>
            </a:r>
            <a:endParaRPr b="1"/>
          </a:p>
        </p:txBody>
      </p:sp>
      <p:sp>
        <p:nvSpPr>
          <p:cNvPr id="140" name="Google Shape;140;p3"/>
          <p:cNvSpPr txBox="1"/>
          <p:nvPr/>
        </p:nvSpPr>
        <p:spPr>
          <a:xfrm>
            <a:off x="1003300" y="850900"/>
            <a:ext cx="71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01</a:t>
            </a:r>
            <a:endParaRPr b="1"/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099390">
            <a:off x="8788400" y="6578600"/>
            <a:ext cx="12827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 txBox="1"/>
          <p:nvPr/>
        </p:nvSpPr>
        <p:spPr>
          <a:xfrm>
            <a:off x="3695700" y="2362200"/>
            <a:ext cx="169799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Team 2</a:t>
            </a:r>
            <a:endParaRPr b="1"/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07700" y="6743700"/>
            <a:ext cx="2692400" cy="26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24100" y="4762500"/>
            <a:ext cx="6502400" cy="3111500"/>
          </a:xfrm>
          <a:prstGeom prst="rect">
            <a:avLst/>
          </a:prstGeom>
          <a:noFill/>
          <a:ln>
            <a:noFill/>
          </a:ln>
          <a:effectLst>
            <a:outerShdw blurRad="233440">
              <a:srgbClr val="4B4B4B">
                <a:alpha val="9019"/>
              </a:srgbClr>
            </a:outerShdw>
          </a:effectLst>
        </p:spPr>
      </p:pic>
      <p:sp>
        <p:nvSpPr>
          <p:cNvPr id="147" name="Google Shape;147;p3"/>
          <p:cNvSpPr txBox="1"/>
          <p:nvPr/>
        </p:nvSpPr>
        <p:spPr>
          <a:xfrm>
            <a:off x="2857500" y="6248400"/>
            <a:ext cx="576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혈액형</a:t>
            </a:r>
            <a:r>
              <a:rPr b="1" lang="en-US" sz="3333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으로</a:t>
            </a:r>
            <a:endParaRPr b="1" sz="3333">
              <a:solidFill>
                <a:srgbClr val="4B4B4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성격 유형론 데이터 검증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2857500" y="5524500"/>
            <a:ext cx="4191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964A3"/>
                </a:solidFill>
                <a:latin typeface="Noto Sans"/>
                <a:ea typeface="Noto Sans"/>
                <a:cs typeface="Noto Sans"/>
                <a:sym typeface="Noto Sans"/>
              </a:rPr>
              <a:t>장윤진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9" name="Google Shape;14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57500" y="4089400"/>
            <a:ext cx="12954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9600" y="44069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24100" y="8966200"/>
            <a:ext cx="6502400" cy="3111500"/>
          </a:xfrm>
          <a:prstGeom prst="rect">
            <a:avLst/>
          </a:prstGeom>
          <a:noFill/>
          <a:ln>
            <a:noFill/>
          </a:ln>
          <a:effectLst>
            <a:outerShdw blurRad="233440">
              <a:srgbClr val="4B4B4B">
                <a:alpha val="9019"/>
              </a:srgbClr>
            </a:outerShdw>
          </a:effectLst>
        </p:spPr>
      </p:pic>
      <p:sp>
        <p:nvSpPr>
          <p:cNvPr id="152" name="Google Shape;152;p3"/>
          <p:cNvSpPr txBox="1"/>
          <p:nvPr/>
        </p:nvSpPr>
        <p:spPr>
          <a:xfrm>
            <a:off x="2844800" y="10452100"/>
            <a:ext cx="5740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자체 설문 데이터</a:t>
            </a:r>
            <a:r>
              <a:rPr b="1" lang="en-US" sz="3333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i="0" lang="en-US" sz="3333" u="none" cap="none" strike="noStrike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분석</a:t>
            </a:r>
            <a:endParaRPr b="1" sz="3333">
              <a:solidFill>
                <a:srgbClr val="4B4B4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&amp; MBTI 예측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2857500" y="9728200"/>
            <a:ext cx="4191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964A3"/>
                </a:solidFill>
                <a:latin typeface="Noto Sans"/>
                <a:ea typeface="Noto Sans"/>
                <a:cs typeface="Noto Sans"/>
                <a:sym typeface="Noto Sans"/>
              </a:rPr>
              <a:t>이유경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4" name="Google Shape;154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57500" y="8293100"/>
            <a:ext cx="12954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36900" y="8585200"/>
            <a:ext cx="723900" cy="7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557500" y="4762500"/>
            <a:ext cx="6502400" cy="3111500"/>
          </a:xfrm>
          <a:prstGeom prst="rect">
            <a:avLst/>
          </a:prstGeom>
          <a:noFill/>
          <a:ln>
            <a:noFill/>
          </a:ln>
          <a:effectLst>
            <a:outerShdw blurRad="233440">
              <a:srgbClr val="4B4B4B">
                <a:alpha val="9019"/>
              </a:srgbClr>
            </a:outerShdw>
          </a:effectLst>
        </p:spPr>
      </p:pic>
      <p:sp>
        <p:nvSpPr>
          <p:cNvPr id="157" name="Google Shape;157;p3"/>
          <p:cNvSpPr txBox="1"/>
          <p:nvPr/>
        </p:nvSpPr>
        <p:spPr>
          <a:xfrm>
            <a:off x="16090900" y="6248400"/>
            <a:ext cx="5537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MBTI</a:t>
            </a:r>
            <a:r>
              <a:rPr b="1" lang="en-US" sz="3333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로 관심사를 맞출 수 있을까?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6090900" y="5524500"/>
            <a:ext cx="4191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964A3"/>
                </a:solidFill>
                <a:latin typeface="Noto Sans"/>
                <a:ea typeface="Noto Sans"/>
                <a:cs typeface="Noto Sans"/>
                <a:sym typeface="Noto Sans"/>
              </a:rPr>
              <a:t>박준영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9" name="Google Shape;159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090900" y="4089400"/>
            <a:ext cx="12954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557500" y="8966200"/>
            <a:ext cx="6502400" cy="3111500"/>
          </a:xfrm>
          <a:prstGeom prst="rect">
            <a:avLst/>
          </a:prstGeom>
          <a:noFill/>
          <a:ln>
            <a:noFill/>
          </a:ln>
          <a:effectLst>
            <a:outerShdw blurRad="233440">
              <a:srgbClr val="4B4B4B">
                <a:alpha val="9019"/>
              </a:srgbClr>
            </a:outerShdw>
          </a:effectLst>
        </p:spPr>
      </p:pic>
      <p:sp>
        <p:nvSpPr>
          <p:cNvPr id="161" name="Google Shape;161;p3"/>
          <p:cNvSpPr txBox="1"/>
          <p:nvPr/>
        </p:nvSpPr>
        <p:spPr>
          <a:xfrm>
            <a:off x="16090900" y="10464800"/>
            <a:ext cx="57404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4B4B4B"/>
                </a:solidFill>
                <a:latin typeface="Noto Sans"/>
                <a:ea typeface="Noto Sans"/>
                <a:cs typeface="Noto Sans"/>
                <a:sym typeface="Noto Sans"/>
              </a:rPr>
              <a:t>자체 설문 데이터 × 기존 데이터 비교분석 &amp; MBTI 예측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6090900" y="9728200"/>
            <a:ext cx="4191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9964A3"/>
                </a:solidFill>
                <a:latin typeface="Noto Sans"/>
                <a:ea typeface="Noto Sans"/>
                <a:cs typeface="Noto Sans"/>
                <a:sym typeface="Noto Sans"/>
              </a:rPr>
              <a:t>이창민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090900" y="8293100"/>
            <a:ext cx="12954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3703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6395700" y="86106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 rot="-2521764">
            <a:off x="8724900" y="9969500"/>
            <a:ext cx="14732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 rot="-8535756">
            <a:off x="14135100" y="9842500"/>
            <a:ext cx="15240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 rot="8278235">
            <a:off x="14211300" y="6553200"/>
            <a:ext cx="1473200" cy="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3300" y="3302000"/>
            <a:ext cx="19837400" cy="9969500"/>
          </a:xfrm>
          <a:prstGeom prst="rect">
            <a:avLst/>
          </a:prstGeom>
          <a:noFill/>
          <a:ln>
            <a:noFill/>
          </a:ln>
          <a:effectLst>
            <a:outerShdw blurRad="747949">
              <a:srgbClr val="4B4B4B">
                <a:alpha val="9019"/>
              </a:srgbClr>
            </a:outerShdw>
          </a:effectLst>
        </p:spPr>
      </p:pic>
      <p:sp>
        <p:nvSpPr>
          <p:cNvPr id="174" name="Google Shape;174;p4"/>
          <p:cNvSpPr txBox="1"/>
          <p:nvPr/>
        </p:nvSpPr>
        <p:spPr>
          <a:xfrm>
            <a:off x="2095500" y="800100"/>
            <a:ext cx="6096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프로젝트 개요</a:t>
            </a:r>
            <a:endParaRPr b="1"/>
          </a:p>
        </p:txBody>
      </p:sp>
      <p:sp>
        <p:nvSpPr>
          <p:cNvPr id="175" name="Google Shape;175;p4"/>
          <p:cNvSpPr txBox="1"/>
          <p:nvPr/>
        </p:nvSpPr>
        <p:spPr>
          <a:xfrm>
            <a:off x="1041400" y="800100"/>
            <a:ext cx="635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02</a:t>
            </a:r>
            <a:endParaRPr b="1"/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5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 txBox="1"/>
          <p:nvPr/>
        </p:nvSpPr>
        <p:spPr>
          <a:xfrm>
            <a:off x="2184400" y="1981200"/>
            <a:ext cx="200152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66" u="none" cap="none" strike="noStrike">
                <a:solidFill>
                  <a:srgbClr val="4B4B4B"/>
                </a:solidFill>
              </a:rPr>
              <a:t>사용한 프로그램 및 사용 라이브러리</a:t>
            </a:r>
            <a:endParaRPr b="1"/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45800" y="5880100"/>
            <a:ext cx="6273800" cy="3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9300" y="5880100"/>
            <a:ext cx="3708400" cy="3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9800" y="5880100"/>
            <a:ext cx="7112000" cy="3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65400" y="10020300"/>
            <a:ext cx="3606800" cy="546100"/>
          </a:xfrm>
          <a:prstGeom prst="rect">
            <a:avLst/>
          </a:prstGeom>
          <a:noFill/>
          <a:ln>
            <a:noFill/>
          </a:ln>
          <a:effectLst>
            <a:outerShdw blurRad="30081">
              <a:srgbClr val="9E9E9E">
                <a:alpha val="16862"/>
              </a:srgbClr>
            </a:outerShdw>
          </a:effectLst>
        </p:spPr>
      </p:pic>
      <p:sp>
        <p:nvSpPr>
          <p:cNvPr id="183" name="Google Shape;183;p4"/>
          <p:cNvSpPr txBox="1"/>
          <p:nvPr/>
        </p:nvSpPr>
        <p:spPr>
          <a:xfrm>
            <a:off x="2692400" y="10121900"/>
            <a:ext cx="3365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파이썬</a:t>
            </a:r>
            <a:endParaRPr/>
          </a:p>
        </p:txBody>
      </p:sp>
      <p:pic>
        <p:nvPicPr>
          <p:cNvPr id="184" name="Google Shape;18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00900" y="10020300"/>
            <a:ext cx="3606800" cy="546100"/>
          </a:xfrm>
          <a:prstGeom prst="rect">
            <a:avLst/>
          </a:prstGeom>
          <a:noFill/>
          <a:ln>
            <a:noFill/>
          </a:ln>
          <a:effectLst>
            <a:outerShdw blurRad="30081">
              <a:srgbClr val="9E9E9E">
                <a:alpha val="16862"/>
              </a:srgbClr>
            </a:outerShdw>
          </a:effectLst>
        </p:spPr>
      </p:pic>
      <p:sp>
        <p:nvSpPr>
          <p:cNvPr id="185" name="Google Shape;185;p4"/>
          <p:cNvSpPr txBox="1"/>
          <p:nvPr/>
        </p:nvSpPr>
        <p:spPr>
          <a:xfrm>
            <a:off x="7327900" y="10121900"/>
            <a:ext cx="3365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넘파이</a:t>
            </a:r>
            <a:endParaRPr/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166600" y="10020300"/>
            <a:ext cx="3606800" cy="546100"/>
          </a:xfrm>
          <a:prstGeom prst="rect">
            <a:avLst/>
          </a:prstGeom>
          <a:noFill/>
          <a:ln>
            <a:noFill/>
          </a:ln>
          <a:effectLst>
            <a:outerShdw blurRad="30081">
              <a:srgbClr val="9E9E9E">
                <a:alpha val="16862"/>
              </a:srgbClr>
            </a:outerShdw>
          </a:effectLst>
        </p:spPr>
      </p:pic>
      <p:sp>
        <p:nvSpPr>
          <p:cNvPr id="187" name="Google Shape;187;p4"/>
          <p:cNvSpPr txBox="1"/>
          <p:nvPr/>
        </p:nvSpPr>
        <p:spPr>
          <a:xfrm>
            <a:off x="12293600" y="10121900"/>
            <a:ext cx="3365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맵플로립</a:t>
            </a:r>
            <a:endParaRPr/>
          </a:p>
        </p:txBody>
      </p:sp>
      <p:pic>
        <p:nvPicPr>
          <p:cNvPr id="188" name="Google Shape;188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989300" y="6515100"/>
            <a:ext cx="59055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145000" y="10020300"/>
            <a:ext cx="3606800" cy="546100"/>
          </a:xfrm>
          <a:prstGeom prst="rect">
            <a:avLst/>
          </a:prstGeom>
          <a:noFill/>
          <a:ln>
            <a:noFill/>
          </a:ln>
          <a:effectLst>
            <a:outerShdw blurRad="30081">
              <a:srgbClr val="9E9E9E">
                <a:alpha val="16862"/>
              </a:srgbClr>
            </a:outerShdw>
          </a:effectLst>
        </p:spPr>
      </p:pic>
      <p:sp>
        <p:nvSpPr>
          <p:cNvPr id="190" name="Google Shape;190;p4"/>
          <p:cNvSpPr txBox="1"/>
          <p:nvPr/>
        </p:nvSpPr>
        <p:spPr>
          <a:xfrm>
            <a:off x="17259300" y="10121900"/>
            <a:ext cx="3365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사이파이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4a498960b_1_166"/>
          <p:cNvSpPr txBox="1"/>
          <p:nvPr/>
        </p:nvSpPr>
        <p:spPr>
          <a:xfrm>
            <a:off x="2108200" y="800100"/>
            <a:ext cx="843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88CCCF"/>
                </a:solidFill>
              </a:rPr>
              <a:t>주제 선정 배경</a:t>
            </a:r>
            <a:endParaRPr b="1"/>
          </a:p>
        </p:txBody>
      </p:sp>
      <p:sp>
        <p:nvSpPr>
          <p:cNvPr id="196" name="Google Shape;196;g3c4a498960b_1_166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8CCCF"/>
                </a:solidFill>
              </a:rPr>
              <a:t>0</a:t>
            </a:r>
            <a:r>
              <a:rPr b="1" lang="en-US" sz="3200">
                <a:solidFill>
                  <a:srgbClr val="88CCCF"/>
                </a:solidFill>
              </a:rPr>
              <a:t>3</a:t>
            </a:r>
            <a:endParaRPr b="1"/>
          </a:p>
        </p:txBody>
      </p:sp>
      <p:pic>
        <p:nvPicPr>
          <p:cNvPr id="197" name="Google Shape;197;g3c4a498960b_1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c4a498960b_1_166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c4a498960b_1_166"/>
          <p:cNvSpPr txBox="1"/>
          <p:nvPr/>
        </p:nvSpPr>
        <p:spPr>
          <a:xfrm>
            <a:off x="3695700" y="2019300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66">
                <a:solidFill>
                  <a:srgbClr val="4B4B4B"/>
                </a:solidFill>
              </a:rPr>
              <a:t>간단한 MBTI 테스트</a:t>
            </a:r>
            <a:endParaRPr b="1"/>
          </a:p>
        </p:txBody>
      </p:sp>
      <p:pic>
        <p:nvPicPr>
          <p:cNvPr id="200" name="Google Shape;200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912" y="3952197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01" name="Google Shape;201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94888" y="4111202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02" name="Google Shape;202;g3c4a498960b_1_166"/>
          <p:cNvSpPr txBox="1"/>
          <p:nvPr/>
        </p:nvSpPr>
        <p:spPr>
          <a:xfrm>
            <a:off x="2931825" y="4179049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E/I</a:t>
            </a:r>
            <a:endParaRPr sz="1369"/>
          </a:p>
        </p:txBody>
      </p:sp>
      <p:pic>
        <p:nvPicPr>
          <p:cNvPr id="203" name="Google Shape;203;g3c4a498960b_1_1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0927099" y="8105925"/>
            <a:ext cx="8336025" cy="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c4a498960b_1_166"/>
          <p:cNvSpPr txBox="1"/>
          <p:nvPr/>
        </p:nvSpPr>
        <p:spPr>
          <a:xfrm>
            <a:off x="1742251" y="5737751"/>
            <a:ext cx="3870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당일 갑자기 잡히는 약속이 힘들다,,!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77472" y="917420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pic>
        <p:nvPicPr>
          <p:cNvPr id="206" name="Google Shape;206;g3c4a498960b_1_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25872" y="9163567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07" name="Google Shape;207;g3c4a498960b_1_166"/>
          <p:cNvSpPr txBox="1"/>
          <p:nvPr/>
        </p:nvSpPr>
        <p:spPr>
          <a:xfrm>
            <a:off x="1821611" y="927001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sp>
        <p:nvSpPr>
          <p:cNvPr id="208" name="Google Shape;208;g3c4a498960b_1_166"/>
          <p:cNvSpPr txBox="1"/>
          <p:nvPr/>
        </p:nvSpPr>
        <p:spPr>
          <a:xfrm>
            <a:off x="4156766" y="927001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pic>
        <p:nvPicPr>
          <p:cNvPr id="209" name="Google Shape;209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402" y="4101277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10" name="Google Shape;210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3378" y="4260282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11" name="Google Shape;211;g3c4a498960b_1_166"/>
          <p:cNvSpPr txBox="1"/>
          <p:nvPr/>
        </p:nvSpPr>
        <p:spPr>
          <a:xfrm>
            <a:off x="3070315" y="4328128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E/I</a:t>
            </a:r>
            <a:endParaRPr sz="1369"/>
          </a:p>
        </p:txBody>
      </p:sp>
      <p:sp>
        <p:nvSpPr>
          <p:cNvPr id="212" name="Google Shape;212;g3c4a498960b_1_166"/>
          <p:cNvSpPr txBox="1"/>
          <p:nvPr/>
        </p:nvSpPr>
        <p:spPr>
          <a:xfrm>
            <a:off x="1880750" y="5886819"/>
            <a:ext cx="3870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주중에 회사(집밖)였으니 주말엔 집에 있어야 한다.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15962" y="932328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pic>
        <p:nvPicPr>
          <p:cNvPr id="214" name="Google Shape;214;g3c4a498960b_1_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64362" y="9312647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15" name="Google Shape;215;g3c4a498960b_1_166"/>
          <p:cNvSpPr txBox="1"/>
          <p:nvPr/>
        </p:nvSpPr>
        <p:spPr>
          <a:xfrm>
            <a:off x="4295256" y="941909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sp>
        <p:nvSpPr>
          <p:cNvPr id="216" name="Google Shape;216;g3c4a498960b_1_166"/>
          <p:cNvSpPr txBox="1"/>
          <p:nvPr/>
        </p:nvSpPr>
        <p:spPr>
          <a:xfrm>
            <a:off x="1946856" y="9419084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pic>
        <p:nvPicPr>
          <p:cNvPr id="217" name="Google Shape;217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6345" y="3951100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18" name="Google Shape;218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43321" y="411010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19" name="Google Shape;219;g3c4a498960b_1_166"/>
          <p:cNvSpPr txBox="1"/>
          <p:nvPr/>
        </p:nvSpPr>
        <p:spPr>
          <a:xfrm>
            <a:off x="14280258" y="4177952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E/I</a:t>
            </a:r>
            <a:endParaRPr sz="1369"/>
          </a:p>
        </p:txBody>
      </p:sp>
      <p:sp>
        <p:nvSpPr>
          <p:cNvPr id="220" name="Google Shape;220;g3c4a498960b_1_166"/>
          <p:cNvSpPr txBox="1"/>
          <p:nvPr/>
        </p:nvSpPr>
        <p:spPr>
          <a:xfrm>
            <a:off x="13090684" y="5736654"/>
            <a:ext cx="3870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당일 갑자기 잡히는 약속이 힘들다,,!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025905" y="9173108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pic>
        <p:nvPicPr>
          <p:cNvPr id="222" name="Google Shape;222;g3c4a498960b_1_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374305" y="9162470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23" name="Google Shape;223;g3c4a498960b_1_166"/>
          <p:cNvSpPr txBox="1"/>
          <p:nvPr/>
        </p:nvSpPr>
        <p:spPr>
          <a:xfrm>
            <a:off x="13170044" y="9268919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sp>
        <p:nvSpPr>
          <p:cNvPr id="224" name="Google Shape;224;g3c4a498960b_1_166"/>
          <p:cNvSpPr txBox="1"/>
          <p:nvPr/>
        </p:nvSpPr>
        <p:spPr>
          <a:xfrm>
            <a:off x="15505199" y="9268919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pic>
        <p:nvPicPr>
          <p:cNvPr id="225" name="Google Shape;225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24835" y="4100179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26" name="Google Shape;226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1811" y="425918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27" name="Google Shape;227;g3c4a498960b_1_166"/>
          <p:cNvSpPr txBox="1"/>
          <p:nvPr/>
        </p:nvSpPr>
        <p:spPr>
          <a:xfrm>
            <a:off x="14418748" y="4327031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T/F</a:t>
            </a:r>
            <a:endParaRPr sz="1369"/>
          </a:p>
        </p:txBody>
      </p:sp>
      <p:sp>
        <p:nvSpPr>
          <p:cNvPr id="228" name="Google Shape;228;g3c4a498960b_1_166"/>
          <p:cNvSpPr txBox="1"/>
          <p:nvPr/>
        </p:nvSpPr>
        <p:spPr>
          <a:xfrm>
            <a:off x="13229174" y="5885734"/>
            <a:ext cx="3870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마지막 수업이 아쉽다,,,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164395" y="9322188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pic>
        <p:nvPicPr>
          <p:cNvPr id="230" name="Google Shape;230;g3c4a498960b_1_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512795" y="9311550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31" name="Google Shape;231;g3c4a498960b_1_166"/>
          <p:cNvSpPr txBox="1"/>
          <p:nvPr/>
        </p:nvSpPr>
        <p:spPr>
          <a:xfrm>
            <a:off x="15643689" y="9417999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sp>
        <p:nvSpPr>
          <p:cNvPr id="232" name="Google Shape;232;g3c4a498960b_1_166"/>
          <p:cNvSpPr txBox="1"/>
          <p:nvPr/>
        </p:nvSpPr>
        <p:spPr>
          <a:xfrm>
            <a:off x="13295289" y="9417987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pic>
        <p:nvPicPr>
          <p:cNvPr id="233" name="Google Shape;233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15869" y="3952197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34" name="Google Shape;234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72844" y="4111202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35" name="Google Shape;235;g3c4a498960b_1_166"/>
          <p:cNvSpPr txBox="1"/>
          <p:nvPr/>
        </p:nvSpPr>
        <p:spPr>
          <a:xfrm>
            <a:off x="19809781" y="4179049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E/I</a:t>
            </a:r>
            <a:endParaRPr sz="1369"/>
          </a:p>
        </p:txBody>
      </p:sp>
      <p:sp>
        <p:nvSpPr>
          <p:cNvPr id="236" name="Google Shape;236;g3c4a498960b_1_166"/>
          <p:cNvSpPr txBox="1"/>
          <p:nvPr/>
        </p:nvSpPr>
        <p:spPr>
          <a:xfrm>
            <a:off x="18620207" y="5737751"/>
            <a:ext cx="3870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당일 갑자기 잡히는 약속이 힘들다,,!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555428" y="917420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38" name="Google Shape;238;g3c4a498960b_1_166"/>
          <p:cNvSpPr txBox="1"/>
          <p:nvPr/>
        </p:nvSpPr>
        <p:spPr>
          <a:xfrm>
            <a:off x="18699567" y="927001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pic>
        <p:nvPicPr>
          <p:cNvPr id="239" name="Google Shape;239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54359" y="4101277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40" name="Google Shape;240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11334" y="4260282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41" name="Google Shape;241;g3c4a498960b_1_166"/>
          <p:cNvSpPr txBox="1"/>
          <p:nvPr/>
        </p:nvSpPr>
        <p:spPr>
          <a:xfrm>
            <a:off x="19948271" y="4328128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J/P</a:t>
            </a:r>
            <a:endParaRPr sz="1369"/>
          </a:p>
        </p:txBody>
      </p:sp>
      <p:sp>
        <p:nvSpPr>
          <p:cNvPr id="242" name="Google Shape;242;g3c4a498960b_1_166"/>
          <p:cNvSpPr txBox="1"/>
          <p:nvPr/>
        </p:nvSpPr>
        <p:spPr>
          <a:xfrm>
            <a:off x="18758697" y="5886831"/>
            <a:ext cx="3870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 자료 내용을 매일</a:t>
            </a:r>
            <a:b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수업 전에 정리한다.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693918" y="932328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44" name="Google Shape;244;g3c4a498960b_1_166"/>
          <p:cNvSpPr txBox="1"/>
          <p:nvPr/>
        </p:nvSpPr>
        <p:spPr>
          <a:xfrm>
            <a:off x="18824812" y="9419084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pic>
        <p:nvPicPr>
          <p:cNvPr id="245" name="Google Shape;245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417" y="3980507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46" name="Google Shape;246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7392" y="4139512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47" name="Google Shape;247;g3c4a498960b_1_166"/>
          <p:cNvSpPr txBox="1"/>
          <p:nvPr/>
        </p:nvSpPr>
        <p:spPr>
          <a:xfrm>
            <a:off x="8594329" y="4207359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E/I</a:t>
            </a:r>
            <a:endParaRPr sz="1369"/>
          </a:p>
        </p:txBody>
      </p:sp>
      <p:sp>
        <p:nvSpPr>
          <p:cNvPr id="248" name="Google Shape;248;g3c4a498960b_1_166"/>
          <p:cNvSpPr txBox="1"/>
          <p:nvPr/>
        </p:nvSpPr>
        <p:spPr>
          <a:xfrm>
            <a:off x="7404755" y="5766061"/>
            <a:ext cx="3870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당일 갑자기 잡히는 약속이 힘들다,,!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39976" y="920251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pic>
        <p:nvPicPr>
          <p:cNvPr id="250" name="Google Shape;250;g3c4a498960b_1_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8376" y="9191877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51" name="Google Shape;251;g3c4a498960b_1_166"/>
          <p:cNvSpPr txBox="1"/>
          <p:nvPr/>
        </p:nvSpPr>
        <p:spPr>
          <a:xfrm>
            <a:off x="7484115" y="929832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sp>
        <p:nvSpPr>
          <p:cNvPr id="252" name="Google Shape;252;g3c4a498960b_1_166"/>
          <p:cNvSpPr txBox="1"/>
          <p:nvPr/>
        </p:nvSpPr>
        <p:spPr>
          <a:xfrm>
            <a:off x="9819270" y="929832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pic>
        <p:nvPicPr>
          <p:cNvPr id="253" name="Google Shape;253;g3c4a498960b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8907" y="4129586"/>
            <a:ext cx="5479028" cy="7839093"/>
          </a:xfrm>
          <a:prstGeom prst="rect">
            <a:avLst/>
          </a:prstGeom>
          <a:noFill/>
          <a:ln>
            <a:noFill/>
          </a:ln>
          <a:effectLst>
            <a:outerShdw blurRad="587923">
              <a:srgbClr val="4B4B4B">
                <a:alpha val="9020"/>
              </a:srgbClr>
            </a:outerShdw>
          </a:effectLst>
        </p:spPr>
      </p:pic>
      <p:pic>
        <p:nvPicPr>
          <p:cNvPr id="254" name="Google Shape;254;g3c4a498960b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5882" y="4288592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55" name="Google Shape;255;g3c4a498960b_1_166"/>
          <p:cNvSpPr txBox="1"/>
          <p:nvPr/>
        </p:nvSpPr>
        <p:spPr>
          <a:xfrm>
            <a:off x="8732819" y="4356438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S/N</a:t>
            </a:r>
            <a:endParaRPr sz="1369"/>
          </a:p>
        </p:txBody>
      </p:sp>
      <p:sp>
        <p:nvSpPr>
          <p:cNvPr id="256" name="Google Shape;256;g3c4a498960b_1_166"/>
          <p:cNvSpPr txBox="1"/>
          <p:nvPr/>
        </p:nvSpPr>
        <p:spPr>
          <a:xfrm>
            <a:off x="7543245" y="5915140"/>
            <a:ext cx="3870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현실보다 이상에 대한</a:t>
            </a:r>
            <a:b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상상을 더 많이 한다.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3c4a498960b_1_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78466" y="9351595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pic>
        <p:nvPicPr>
          <p:cNvPr id="258" name="Google Shape;258;g3c4a498960b_1_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6866" y="9340957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59" name="Google Shape;259;g3c4a498960b_1_166"/>
          <p:cNvSpPr txBox="1"/>
          <p:nvPr/>
        </p:nvSpPr>
        <p:spPr>
          <a:xfrm>
            <a:off x="9957760" y="944740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sp>
        <p:nvSpPr>
          <p:cNvPr id="260" name="Google Shape;260;g3c4a498960b_1_166"/>
          <p:cNvSpPr txBox="1"/>
          <p:nvPr/>
        </p:nvSpPr>
        <p:spPr>
          <a:xfrm>
            <a:off x="7609360" y="9447393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Yes</a:t>
            </a:r>
            <a:endParaRPr sz="1369"/>
          </a:p>
        </p:txBody>
      </p:sp>
      <p:sp>
        <p:nvSpPr>
          <p:cNvPr id="261" name="Google Shape;261;g3c4a498960b_1_166"/>
          <p:cNvSpPr txBox="1"/>
          <p:nvPr/>
        </p:nvSpPr>
        <p:spPr>
          <a:xfrm>
            <a:off x="21180764" y="9417974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pic>
        <p:nvPicPr>
          <p:cNvPr id="262" name="Google Shape;262;g3c4a498960b_1_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180770" y="9311500"/>
            <a:ext cx="1696819" cy="1045149"/>
          </a:xfrm>
          <a:prstGeom prst="rect">
            <a:avLst/>
          </a:prstGeom>
          <a:noFill/>
          <a:ln>
            <a:noFill/>
          </a:ln>
          <a:effectLst>
            <a:outerShdw blurRad="56105">
              <a:srgbClr val="9E9E9E">
                <a:alpha val="16860"/>
              </a:srgbClr>
            </a:outerShdw>
          </a:effectLst>
        </p:spPr>
      </p:pic>
      <p:sp>
        <p:nvSpPr>
          <p:cNvPr id="263" name="Google Shape;263;g3c4a498960b_1_166"/>
          <p:cNvSpPr txBox="1"/>
          <p:nvPr/>
        </p:nvSpPr>
        <p:spPr>
          <a:xfrm>
            <a:off x="21319264" y="9411936"/>
            <a:ext cx="1435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97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2">
                <a:solidFill>
                  <a:srgbClr val="FFFFFF"/>
                </a:solidFill>
              </a:rPr>
              <a:t>No</a:t>
            </a:r>
            <a:endParaRPr sz="1369"/>
          </a:p>
        </p:txBody>
      </p:sp>
      <p:sp>
        <p:nvSpPr>
          <p:cNvPr id="264" name="Google Shape;264;g3c4a498960b_1_166"/>
          <p:cNvSpPr txBox="1"/>
          <p:nvPr/>
        </p:nvSpPr>
        <p:spPr>
          <a:xfrm>
            <a:off x="15417833" y="10572200"/>
            <a:ext cx="19092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왕서운,,ㅠ</a:t>
            </a:r>
            <a:endParaRPr sz="3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"/>
          <p:cNvSpPr txBox="1"/>
          <p:nvPr/>
        </p:nvSpPr>
        <p:spPr>
          <a:xfrm>
            <a:off x="2108200" y="800100"/>
            <a:ext cx="8432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88CCCF"/>
                </a:solidFill>
              </a:rPr>
              <a:t>주제 선정 배경</a:t>
            </a:r>
            <a:endParaRPr b="1"/>
          </a:p>
        </p:txBody>
      </p:sp>
      <p:sp>
        <p:nvSpPr>
          <p:cNvPr id="270" name="Google Shape;270;p6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8CCCF"/>
                </a:solidFill>
              </a:rPr>
              <a:t>0</a:t>
            </a:r>
            <a:r>
              <a:rPr b="1" lang="en-US" sz="3200">
                <a:solidFill>
                  <a:srgbClr val="88CCCF"/>
                </a:solidFill>
              </a:rPr>
              <a:t>4</a:t>
            </a:r>
            <a:endParaRPr b="1"/>
          </a:p>
        </p:txBody>
      </p:sp>
      <p:pic>
        <p:nvPicPr>
          <p:cNvPr id="271" name="Google Shape;2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2600" y="4241800"/>
            <a:ext cx="8902700" cy="8953500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19"/>
              </a:srgbClr>
            </a:outerShdw>
          </a:effectLst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0" y="4737100"/>
            <a:ext cx="3733800" cy="6604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2"/>
              </a:srgbClr>
            </a:outerShdw>
          </a:effectLst>
        </p:spPr>
      </p:pic>
      <p:sp>
        <p:nvSpPr>
          <p:cNvPr id="273" name="Google Shape;273;p6"/>
          <p:cNvSpPr txBox="1"/>
          <p:nvPr/>
        </p:nvSpPr>
        <p:spPr>
          <a:xfrm>
            <a:off x="5829300" y="4876800"/>
            <a:ext cx="32766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너 혈액형 뭐야?</a:t>
            </a:r>
            <a:endParaRPr/>
          </a:p>
        </p:txBody>
      </p:sp>
      <p:pic>
        <p:nvPicPr>
          <p:cNvPr id="274" name="Google Shape;2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 txBox="1"/>
          <p:nvPr/>
        </p:nvSpPr>
        <p:spPr>
          <a:xfrm>
            <a:off x="3695700" y="2019300"/>
            <a:ext cx="16979900" cy="16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66" u="none" cap="none" strike="noStrike">
                <a:solidFill>
                  <a:srgbClr val="4B4B4B"/>
                </a:solidFill>
              </a:rPr>
              <a:t>"너 MBTI 뭐야?"</a:t>
            </a:r>
            <a:br>
              <a:rPr b="1" i="0" lang="en-US" sz="4666" u="none" cap="none" strike="noStrike">
                <a:solidFill>
                  <a:srgbClr val="4B4B4B"/>
                </a:solidFill>
              </a:rPr>
            </a:br>
            <a:r>
              <a:rPr b="1" i="0" lang="en-US" sz="4666" u="none" cap="none" strike="noStrike">
                <a:solidFill>
                  <a:srgbClr val="4B4B4B"/>
                </a:solidFill>
              </a:rPr>
              <a:t>"A형이라 그런지 꼼꼼하다~"</a:t>
            </a:r>
            <a:endParaRPr b="1"/>
          </a:p>
        </p:txBody>
      </p:sp>
      <p:pic>
        <p:nvPicPr>
          <p:cNvPr id="277" name="Google Shape;2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8700" y="4241800"/>
            <a:ext cx="8902700" cy="8953500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19"/>
              </a:srgbClr>
            </a:outerShdw>
          </a:effectLst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6800" y="4737100"/>
            <a:ext cx="3733800" cy="6604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2"/>
              </a:srgbClr>
            </a:outerShdw>
          </a:effectLst>
        </p:spPr>
      </p:pic>
      <p:sp>
        <p:nvSpPr>
          <p:cNvPr id="279" name="Google Shape;279;p6"/>
          <p:cNvSpPr txBox="1"/>
          <p:nvPr/>
        </p:nvSpPr>
        <p:spPr>
          <a:xfrm>
            <a:off x="15265400" y="4876800"/>
            <a:ext cx="32766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너 MBTI 뭐야?</a:t>
            </a:r>
            <a:endParaRPr/>
          </a:p>
        </p:txBody>
      </p:sp>
      <p:sp>
        <p:nvSpPr>
          <p:cNvPr id="280" name="Google Shape;280;p6"/>
          <p:cNvSpPr txBox="1"/>
          <p:nvPr/>
        </p:nvSpPr>
        <p:spPr>
          <a:xfrm>
            <a:off x="14008100" y="7404100"/>
            <a:ext cx="23495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A사 고객</a:t>
            </a:r>
            <a:endParaRPr/>
          </a:p>
        </p:txBody>
      </p:sp>
      <p:pic>
        <p:nvPicPr>
          <p:cNvPr id="281" name="Google Shape;2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78200" y="6299200"/>
            <a:ext cx="8204200" cy="62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890500" y="5410200"/>
            <a:ext cx="8051800" cy="80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"/>
          <p:cNvSpPr txBox="1"/>
          <p:nvPr/>
        </p:nvSpPr>
        <p:spPr>
          <a:xfrm>
            <a:off x="2108200" y="800100"/>
            <a:ext cx="36957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8CCCF"/>
                </a:solidFill>
              </a:rPr>
              <a:t>데이터 출처</a:t>
            </a:r>
            <a:endParaRPr b="1"/>
          </a:p>
        </p:txBody>
      </p:sp>
      <p:sp>
        <p:nvSpPr>
          <p:cNvPr id="288" name="Google Shape;288;p5"/>
          <p:cNvSpPr txBox="1"/>
          <p:nvPr/>
        </p:nvSpPr>
        <p:spPr>
          <a:xfrm>
            <a:off x="1003300" y="850900"/>
            <a:ext cx="71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8CCCF"/>
                </a:solidFill>
              </a:rPr>
              <a:t>0</a:t>
            </a:r>
            <a:r>
              <a:rPr b="1" lang="en-US" sz="3200">
                <a:solidFill>
                  <a:srgbClr val="88CCCF"/>
                </a:solidFill>
              </a:rPr>
              <a:t>5</a:t>
            </a:r>
            <a:endParaRPr b="1"/>
          </a:p>
        </p:txBody>
      </p:sp>
      <p:pic>
        <p:nvPicPr>
          <p:cNvPr id="289" name="Google Shape;2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00" y="4089400"/>
            <a:ext cx="7914601" cy="8013699"/>
          </a:xfrm>
          <a:prstGeom prst="rect">
            <a:avLst/>
          </a:prstGeom>
          <a:noFill/>
          <a:ln>
            <a:noFill/>
          </a:ln>
          <a:effectLst>
            <a:outerShdw blurRad="601019">
              <a:srgbClr val="4B4B4B">
                <a:alpha val="9019"/>
              </a:srgbClr>
            </a:outerShdw>
          </a:effectLst>
        </p:spPr>
      </p:pic>
      <p:pic>
        <p:nvPicPr>
          <p:cNvPr id="290" name="Google Shape;2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1050" y="4251947"/>
            <a:ext cx="2451100" cy="1068428"/>
          </a:xfrm>
          <a:prstGeom prst="rect">
            <a:avLst/>
          </a:prstGeom>
          <a:noFill/>
          <a:ln>
            <a:noFill/>
          </a:ln>
          <a:effectLst>
            <a:outerShdw blurRad="57355">
              <a:srgbClr val="9E9E9E">
                <a:alpha val="16862"/>
              </a:srgbClr>
            </a:outerShdw>
          </a:effectLst>
        </p:spPr>
      </p:pic>
      <p:sp>
        <p:nvSpPr>
          <p:cNvPr id="291" name="Google Shape;291;p5"/>
          <p:cNvSpPr txBox="1"/>
          <p:nvPr/>
        </p:nvSpPr>
        <p:spPr>
          <a:xfrm>
            <a:off x="3118859" y="4321304"/>
            <a:ext cx="20727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/>
          </a:p>
        </p:txBody>
      </p:sp>
      <p:pic>
        <p:nvPicPr>
          <p:cNvPr id="292" name="Google Shape;29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"/>
          <p:cNvSpPr txBox="1"/>
          <p:nvPr/>
        </p:nvSpPr>
        <p:spPr>
          <a:xfrm>
            <a:off x="2819400" y="2374900"/>
            <a:ext cx="18745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550" lIns="0" spcFirstLastPara="1" rIns="0" wrap="square" tIns="5755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33" u="none" cap="none" strike="noStrike">
                <a:solidFill>
                  <a:srgbClr val="4B4B4B"/>
                </a:solidFill>
              </a:rPr>
              <a:t>사용한 데이터 출처</a:t>
            </a:r>
            <a:endParaRPr b="1"/>
          </a:p>
        </p:txBody>
      </p:sp>
      <p:pic>
        <p:nvPicPr>
          <p:cNvPr id="295" name="Google Shape;29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14525" y="4089400"/>
            <a:ext cx="7844750" cy="8013699"/>
          </a:xfrm>
          <a:prstGeom prst="rect">
            <a:avLst/>
          </a:prstGeom>
          <a:noFill/>
          <a:ln>
            <a:noFill/>
          </a:ln>
          <a:effectLst>
            <a:outerShdw blurRad="601019">
              <a:srgbClr val="4B4B4B">
                <a:alpha val="9019"/>
              </a:srgbClr>
            </a:outerShdw>
          </a:effectLst>
        </p:spPr>
      </p:pic>
      <p:pic>
        <p:nvPicPr>
          <p:cNvPr id="296" name="Google Shape;29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7950200" y="8305800"/>
            <a:ext cx="8521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151600" y="4265475"/>
            <a:ext cx="2451100" cy="1041400"/>
          </a:xfrm>
          <a:prstGeom prst="rect">
            <a:avLst/>
          </a:prstGeom>
          <a:noFill/>
          <a:ln>
            <a:noFill/>
          </a:ln>
          <a:effectLst>
            <a:outerShdw blurRad="57355">
              <a:srgbClr val="9E9E9E">
                <a:alpha val="16862"/>
              </a:srgbClr>
            </a:outerShdw>
          </a:effectLst>
        </p:spPr>
      </p:pic>
      <p:sp>
        <p:nvSpPr>
          <p:cNvPr id="298" name="Google Shape;298;p5"/>
          <p:cNvSpPr txBox="1"/>
          <p:nvPr/>
        </p:nvSpPr>
        <p:spPr>
          <a:xfrm>
            <a:off x="19380075" y="4321290"/>
            <a:ext cx="20727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구글폼</a:t>
            </a:r>
            <a:endParaRPr/>
          </a:p>
        </p:txBody>
      </p:sp>
      <p:pic>
        <p:nvPicPr>
          <p:cNvPr id="299" name="Google Shape;29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520150" y="5853875"/>
            <a:ext cx="7158175" cy="47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4925" y="5853875"/>
            <a:ext cx="7488675" cy="47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1488" y="4089400"/>
            <a:ext cx="7844751" cy="8013699"/>
          </a:xfrm>
          <a:prstGeom prst="rect">
            <a:avLst/>
          </a:prstGeom>
          <a:noFill/>
          <a:ln>
            <a:noFill/>
          </a:ln>
          <a:effectLst>
            <a:outerShdw blurRad="601019">
              <a:srgbClr val="4B4B4B">
                <a:alpha val="9020"/>
              </a:srgbClr>
            </a:outerShdw>
          </a:effectLst>
        </p:spPr>
      </p:pic>
      <p:pic>
        <p:nvPicPr>
          <p:cNvPr id="302" name="Google Shape;302;p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00700" y="5916400"/>
            <a:ext cx="7366336" cy="4655351"/>
          </a:xfrm>
          <a:prstGeom prst="rect">
            <a:avLst/>
          </a:prstGeom>
          <a:noFill/>
          <a:ln>
            <a:noFill/>
          </a:ln>
          <a:effectLst>
            <a:outerShdw blurRad="601019">
              <a:srgbClr val="4B4B4B">
                <a:alpha val="9020"/>
              </a:srgbClr>
            </a:outerShdw>
          </a:effectLst>
        </p:spPr>
      </p:pic>
      <p:pic>
        <p:nvPicPr>
          <p:cNvPr id="303" name="Google Shape;30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50563" y="4265450"/>
            <a:ext cx="2451100" cy="1041400"/>
          </a:xfrm>
          <a:prstGeom prst="rect">
            <a:avLst/>
          </a:prstGeom>
          <a:noFill/>
          <a:ln>
            <a:noFill/>
          </a:ln>
          <a:effectLst>
            <a:outerShdw blurRad="57355">
              <a:srgbClr val="9E9E9E">
                <a:alpha val="16860"/>
              </a:srgbClr>
            </a:outerShdw>
          </a:effectLst>
        </p:spPr>
      </p:pic>
      <p:sp>
        <p:nvSpPr>
          <p:cNvPr id="304" name="Google Shape;304;p5"/>
          <p:cNvSpPr txBox="1"/>
          <p:nvPr/>
        </p:nvSpPr>
        <p:spPr>
          <a:xfrm>
            <a:off x="11339763" y="4387150"/>
            <a:ext cx="20727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갤럽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bfa6e77bc_1_0"/>
          <p:cNvSpPr txBox="1"/>
          <p:nvPr/>
        </p:nvSpPr>
        <p:spPr>
          <a:xfrm>
            <a:off x="2108200" y="850900"/>
            <a:ext cx="9144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 b="1" sz="3200">
              <a:solidFill>
                <a:srgbClr val="9964A3"/>
              </a:solidFill>
            </a:endParaRPr>
          </a:p>
        </p:txBody>
      </p:sp>
      <p:sp>
        <p:nvSpPr>
          <p:cNvPr id="310" name="Google Shape;310;g3cbfa6e77bc_1_0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 b="1"/>
          </a:p>
        </p:txBody>
      </p:sp>
      <p:pic>
        <p:nvPicPr>
          <p:cNvPr id="311" name="Google Shape;311;g3cbfa6e77b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cbfa6e77bc_1_0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cbfa6e77bc_1_0"/>
          <p:cNvSpPr txBox="1"/>
          <p:nvPr/>
        </p:nvSpPr>
        <p:spPr>
          <a:xfrm>
            <a:off x="2184400" y="2057400"/>
            <a:ext cx="20015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66">
                <a:solidFill>
                  <a:srgbClr val="4B4B4B"/>
                </a:solidFill>
              </a:rPr>
              <a:t>소주제  : 혈액형, mbti가 성격과 상관관계가 있을까?</a:t>
            </a:r>
            <a:endParaRPr b="1"/>
          </a:p>
        </p:txBody>
      </p:sp>
      <p:pic>
        <p:nvPicPr>
          <p:cNvPr id="314" name="Google Shape;314;g3cbfa6e77bc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8250" y="3327500"/>
            <a:ext cx="17847496" cy="99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"/>
          <p:cNvSpPr txBox="1"/>
          <p:nvPr/>
        </p:nvSpPr>
        <p:spPr>
          <a:xfrm>
            <a:off x="2108200" y="850900"/>
            <a:ext cx="756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 b="1" sz="3200">
              <a:solidFill>
                <a:srgbClr val="9964A3"/>
              </a:solidFill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1003300" y="850900"/>
            <a:ext cx="71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 b="1">
              <a:solidFill>
                <a:srgbClr val="9964A3"/>
              </a:solidFill>
            </a:endParaRPr>
          </a:p>
        </p:txBody>
      </p:sp>
      <p:pic>
        <p:nvPicPr>
          <p:cNvPr id="321" name="Google Shape;3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225" y="3429000"/>
            <a:ext cx="24066299" cy="83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9"/>
          <p:cNvSpPr txBox="1"/>
          <p:nvPr/>
        </p:nvSpPr>
        <p:spPr>
          <a:xfrm>
            <a:off x="643625" y="12083475"/>
            <a:ext cx="20420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A형 &gt; O형 &gt; B형 &gt; AB형                  O형 &gt; A형 &gt; B형 &gt; AB형    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164075" y="4622800"/>
            <a:ext cx="1154700" cy="825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8118700" y="2052550"/>
            <a:ext cx="85437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한</a:t>
            </a:r>
            <a:r>
              <a:rPr b="1" lang="en-US" sz="5600">
                <a:solidFill>
                  <a:schemeClr val="dk1"/>
                </a:solidFill>
              </a:rPr>
              <a:t>국 혈액형 분포 </a:t>
            </a:r>
            <a:endParaRPr b="1" sz="5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>
              <a:solidFill>
                <a:srgbClr val="9964A3"/>
              </a:solidFill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1003300" y="850900"/>
            <a:ext cx="71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 b="1">
              <a:solidFill>
                <a:srgbClr val="9964A3"/>
              </a:solidFill>
            </a:endParaRPr>
          </a:p>
        </p:txBody>
      </p:sp>
      <p:pic>
        <p:nvPicPr>
          <p:cNvPr id="333" name="Google Shape;3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0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60532"/>
            <a:ext cx="12369800" cy="742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0"/>
          <p:cNvPicPr preferRelativeResize="0"/>
          <p:nvPr/>
        </p:nvPicPr>
        <p:blipFill rotWithShape="1">
          <a:blip r:embed="rId6">
            <a:alphaModFix/>
          </a:blip>
          <a:srcRect b="3383" l="5401" r="0" t="5913"/>
          <a:stretch/>
        </p:blipFill>
        <p:spPr>
          <a:xfrm>
            <a:off x="12369800" y="4160525"/>
            <a:ext cx="13139500" cy="7421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0"/>
          <p:cNvSpPr txBox="1"/>
          <p:nvPr/>
        </p:nvSpPr>
        <p:spPr>
          <a:xfrm>
            <a:off x="6341925" y="2209225"/>
            <a:ext cx="12977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연도별 혈액형 성격설에 대한 믿음</a:t>
            </a:r>
            <a:endParaRPr b="1" sz="5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 txBox="1"/>
          <p:nvPr/>
        </p:nvSpPr>
        <p:spPr>
          <a:xfrm>
            <a:off x="2108200" y="800100"/>
            <a:ext cx="8432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 b="1">
              <a:solidFill>
                <a:srgbClr val="9964A3"/>
              </a:solidFill>
            </a:endParaRPr>
          </a:p>
        </p:txBody>
      </p:sp>
      <p:pic>
        <p:nvPicPr>
          <p:cNvPr id="344" name="Google Shape;3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700" y="4737100"/>
            <a:ext cx="3733800" cy="6604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2"/>
              </a:srgbClr>
            </a:outerShdw>
          </a:effectLst>
        </p:spPr>
      </p:pic>
      <p:sp>
        <p:nvSpPr>
          <p:cNvPr id="345" name="Google Shape;345;p11"/>
          <p:cNvSpPr txBox="1"/>
          <p:nvPr/>
        </p:nvSpPr>
        <p:spPr>
          <a:xfrm>
            <a:off x="5829300" y="4876800"/>
            <a:ext cx="32766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너 'A' 형이지</a:t>
            </a:r>
            <a:endParaRPr/>
          </a:p>
        </p:txBody>
      </p:sp>
      <p:pic>
        <p:nvPicPr>
          <p:cNvPr id="346" name="Google Shape;3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1"/>
          <p:cNvPicPr preferRelativeResize="0"/>
          <p:nvPr/>
        </p:nvPicPr>
        <p:blipFill rotWithShape="1">
          <a:blip r:embed="rId5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8100" y="5765800"/>
            <a:ext cx="2578100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1"/>
          <p:cNvSpPr txBox="1"/>
          <p:nvPr/>
        </p:nvSpPr>
        <p:spPr>
          <a:xfrm>
            <a:off x="5473700" y="64262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B사</a:t>
            </a:r>
            <a:endParaRPr/>
          </a:p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제품</a:t>
            </a:r>
            <a:endParaRPr/>
          </a:p>
        </p:txBody>
      </p:sp>
      <p:pic>
        <p:nvPicPr>
          <p:cNvPr id="350" name="Google Shape;35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1700" y="5765800"/>
            <a:ext cx="2578100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1"/>
          <p:cNvSpPr txBox="1"/>
          <p:nvPr/>
        </p:nvSpPr>
        <p:spPr>
          <a:xfrm>
            <a:off x="7620000" y="64262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당사</a:t>
            </a:r>
            <a:endParaRPr/>
          </a:p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콘텐츠</a:t>
            </a:r>
            <a:endParaRPr/>
          </a:p>
        </p:txBody>
      </p:sp>
      <p:pic>
        <p:nvPicPr>
          <p:cNvPr id="352" name="Google Shape;3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6800" y="4737100"/>
            <a:ext cx="3733800" cy="6604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2"/>
              </a:srgbClr>
            </a:outerShdw>
          </a:effectLst>
        </p:spPr>
      </p:pic>
      <p:sp>
        <p:nvSpPr>
          <p:cNvPr id="353" name="Google Shape;353;p11"/>
          <p:cNvSpPr txBox="1"/>
          <p:nvPr/>
        </p:nvSpPr>
        <p:spPr>
          <a:xfrm>
            <a:off x="15265400" y="4876800"/>
            <a:ext cx="32766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너 MBTI 머야?</a:t>
            </a:r>
            <a:endParaRPr/>
          </a:p>
        </p:txBody>
      </p:sp>
      <p:pic>
        <p:nvPicPr>
          <p:cNvPr id="354" name="Google Shape;35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7560000">
            <a:off x="14427200" y="6134100"/>
            <a:ext cx="10922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7560000">
            <a:off x="18300700" y="6134100"/>
            <a:ext cx="10922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652500" y="7213600"/>
            <a:ext cx="3060700" cy="1079500"/>
          </a:xfrm>
          <a:prstGeom prst="rect">
            <a:avLst/>
          </a:prstGeom>
          <a:noFill/>
          <a:ln>
            <a:noFill/>
          </a:ln>
          <a:effectLst>
            <a:outerShdw blurRad="80695">
              <a:srgbClr val="4B4B4B">
                <a:alpha val="9019"/>
              </a:srgbClr>
            </a:outerShdw>
          </a:effectLst>
        </p:spPr>
      </p:pic>
      <p:sp>
        <p:nvSpPr>
          <p:cNvPr id="357" name="Google Shape;357;p11"/>
          <p:cNvSpPr txBox="1"/>
          <p:nvPr/>
        </p:nvSpPr>
        <p:spPr>
          <a:xfrm>
            <a:off x="14008100" y="7404100"/>
            <a:ext cx="23495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A사 고객</a:t>
            </a:r>
            <a:endParaRPr/>
          </a:p>
        </p:txBody>
      </p:sp>
      <p:pic>
        <p:nvPicPr>
          <p:cNvPr id="358" name="Google Shape;358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106900" y="7213600"/>
            <a:ext cx="3060700" cy="1079500"/>
          </a:xfrm>
          <a:prstGeom prst="rect">
            <a:avLst/>
          </a:prstGeom>
          <a:noFill/>
          <a:ln>
            <a:noFill/>
          </a:ln>
          <a:effectLst>
            <a:outerShdw blurRad="80695">
              <a:srgbClr val="4B4B4B">
                <a:alpha val="9019"/>
              </a:srgbClr>
            </a:outerShdw>
          </a:effectLst>
        </p:spPr>
      </p:pic>
      <p:sp>
        <p:nvSpPr>
          <p:cNvPr id="359" name="Google Shape;359;p11"/>
          <p:cNvSpPr txBox="1"/>
          <p:nvPr/>
        </p:nvSpPr>
        <p:spPr>
          <a:xfrm>
            <a:off x="17475200" y="7404100"/>
            <a:ext cx="23495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당사 고객</a:t>
            </a:r>
            <a:endParaRPr/>
          </a:p>
        </p:txBody>
      </p:sp>
      <p:sp>
        <p:nvSpPr>
          <p:cNvPr id="360" name="Google Shape;360;p11"/>
          <p:cNvSpPr txBox="1"/>
          <p:nvPr/>
        </p:nvSpPr>
        <p:spPr>
          <a:xfrm>
            <a:off x="15011400" y="5778500"/>
            <a:ext cx="37846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공동 캠페인</a:t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>
              <a:solidFill>
                <a:srgbClr val="9964A3"/>
              </a:solidFill>
            </a:endParaRPr>
          </a:p>
        </p:txBody>
      </p:sp>
      <p:pic>
        <p:nvPicPr>
          <p:cNvPr id="362" name="Google Shape;36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1"/>
          <p:cNvPicPr preferRelativeResize="0"/>
          <p:nvPr/>
        </p:nvPicPr>
        <p:blipFill rotWithShape="1">
          <a:blip r:embed="rId5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3725063"/>
            <a:ext cx="12890500" cy="805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2684600" y="3725075"/>
            <a:ext cx="11699400" cy="805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1"/>
          <p:cNvSpPr txBox="1"/>
          <p:nvPr/>
        </p:nvSpPr>
        <p:spPr>
          <a:xfrm>
            <a:off x="5829300" y="2045488"/>
            <a:ext cx="12977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혈액형별 선호도</a:t>
            </a:r>
            <a:endParaRPr b="1" sz="5600">
              <a:solidFill>
                <a:schemeClr val="dk1"/>
              </a:solidFill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9728975" y="4333400"/>
            <a:ext cx="1016100" cy="825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9959875" y="10706475"/>
            <a:ext cx="462000" cy="673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20258425" y="8535950"/>
            <a:ext cx="1385400" cy="133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700" y="3822700"/>
            <a:ext cx="9207500" cy="8801100"/>
          </a:xfrm>
          <a:prstGeom prst="rect">
            <a:avLst/>
          </a:prstGeom>
          <a:noFill/>
          <a:ln>
            <a:noFill/>
          </a:ln>
          <a:effectLst>
            <a:outerShdw blurRad="659810">
              <a:srgbClr val="4B4B4B">
                <a:alpha val="9019"/>
              </a:srgbClr>
            </a:outerShdw>
          </a:effectLst>
        </p:spPr>
      </p:pic>
      <p:pic>
        <p:nvPicPr>
          <p:cNvPr id="375" name="Google Shape;3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8500" y="4419600"/>
            <a:ext cx="3771900" cy="6604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2"/>
              </a:srgbClr>
            </a:outerShdw>
          </a:effectLst>
        </p:spPr>
      </p:pic>
      <p:sp>
        <p:nvSpPr>
          <p:cNvPr id="376" name="Google Shape;376;p12"/>
          <p:cNvSpPr txBox="1"/>
          <p:nvPr/>
        </p:nvSpPr>
        <p:spPr>
          <a:xfrm>
            <a:off x="4737100" y="4559300"/>
            <a:ext cx="331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국내 [시장] 규모 추이</a:t>
            </a:r>
            <a:endParaRPr/>
          </a:p>
        </p:txBody>
      </p:sp>
      <p:sp>
        <p:nvSpPr>
          <p:cNvPr id="377" name="Google Shape;377;p12"/>
          <p:cNvSpPr txBox="1"/>
          <p:nvPr/>
        </p:nvSpPr>
        <p:spPr>
          <a:xfrm>
            <a:off x="8521700" y="5041900"/>
            <a:ext cx="1790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7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단위 : 억 원</a:t>
            </a:r>
            <a:endParaRPr/>
          </a:p>
        </p:txBody>
      </p:sp>
      <p:sp>
        <p:nvSpPr>
          <p:cNvPr id="378" name="Google Shape;378;p12"/>
          <p:cNvSpPr txBox="1"/>
          <p:nvPr/>
        </p:nvSpPr>
        <p:spPr>
          <a:xfrm>
            <a:off x="2108200" y="850900"/>
            <a:ext cx="607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 txBox="1"/>
          <p:nvPr/>
        </p:nvSpPr>
        <p:spPr>
          <a:xfrm>
            <a:off x="1066800" y="812800"/>
            <a:ext cx="71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380" name="Google Shape;38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2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3300" y="6248400"/>
            <a:ext cx="8051800" cy="39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2"/>
          <p:cNvSpPr txBox="1"/>
          <p:nvPr/>
        </p:nvSpPr>
        <p:spPr>
          <a:xfrm>
            <a:off x="2654300" y="88011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XX억 원</a:t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4191000" y="80518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XX억 원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5740400" y="75311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XX억 원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7302500" y="65405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XX억 원</a:t>
            </a:r>
            <a:endParaRPr/>
          </a:p>
        </p:txBody>
      </p:sp>
      <p:sp>
        <p:nvSpPr>
          <p:cNvPr id="387" name="Google Shape;387;p12"/>
          <p:cNvSpPr txBox="1"/>
          <p:nvPr/>
        </p:nvSpPr>
        <p:spPr>
          <a:xfrm>
            <a:off x="8851900" y="58166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XX억 원</a:t>
            </a:r>
            <a:endParaRPr/>
          </a:p>
        </p:txBody>
      </p:sp>
      <p:sp>
        <p:nvSpPr>
          <p:cNvPr id="388" name="Google Shape;388;p12"/>
          <p:cNvSpPr txBox="1"/>
          <p:nvPr/>
        </p:nvSpPr>
        <p:spPr>
          <a:xfrm>
            <a:off x="2641600" y="102489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2075</a:t>
            </a:r>
            <a:endParaRPr/>
          </a:p>
        </p:txBody>
      </p:sp>
      <p:sp>
        <p:nvSpPr>
          <p:cNvPr id="389" name="Google Shape;389;p12"/>
          <p:cNvSpPr txBox="1"/>
          <p:nvPr/>
        </p:nvSpPr>
        <p:spPr>
          <a:xfrm>
            <a:off x="4191000" y="102616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2076</a:t>
            </a:r>
            <a:endParaRPr/>
          </a:p>
        </p:txBody>
      </p:sp>
      <p:sp>
        <p:nvSpPr>
          <p:cNvPr id="390" name="Google Shape;390;p12"/>
          <p:cNvSpPr txBox="1"/>
          <p:nvPr/>
        </p:nvSpPr>
        <p:spPr>
          <a:xfrm>
            <a:off x="5740400" y="102489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2077</a:t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7289800" y="102489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2078</a:t>
            </a:r>
            <a:endParaRPr/>
          </a:p>
        </p:txBody>
      </p:sp>
      <p:sp>
        <p:nvSpPr>
          <p:cNvPr id="392" name="Google Shape;392;p12"/>
          <p:cNvSpPr txBox="1"/>
          <p:nvPr/>
        </p:nvSpPr>
        <p:spPr>
          <a:xfrm>
            <a:off x="8851900" y="10248900"/>
            <a:ext cx="1206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2079</a:t>
            </a:r>
            <a:endParaRPr/>
          </a:p>
        </p:txBody>
      </p:sp>
      <p:sp>
        <p:nvSpPr>
          <p:cNvPr id="393" name="Google Shape;393;p12"/>
          <p:cNvSpPr txBox="1"/>
          <p:nvPr/>
        </p:nvSpPr>
        <p:spPr>
          <a:xfrm>
            <a:off x="2705100" y="11010900"/>
            <a:ext cx="7429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온라인 교육 수요 급증, 2030세대의 자기계발 투자 증가</a:t>
            </a:r>
            <a:endParaRPr/>
          </a:p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등으로 지속 성장 전망</a:t>
            </a:r>
            <a:endParaRPr/>
          </a:p>
        </p:txBody>
      </p:sp>
      <p:sp>
        <p:nvSpPr>
          <p:cNvPr id="394" name="Google Shape;394;p12"/>
          <p:cNvSpPr txBox="1"/>
          <p:nvPr/>
        </p:nvSpPr>
        <p:spPr>
          <a:xfrm>
            <a:off x="12992100" y="6057900"/>
            <a:ext cx="2565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온라인 교육</a:t>
            </a:r>
            <a:endParaRPr/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일상화</a:t>
            </a:r>
            <a:endParaRPr/>
          </a:p>
        </p:txBody>
      </p:sp>
      <p:sp>
        <p:nvSpPr>
          <p:cNvPr id="395" name="Google Shape;395;p12"/>
          <p:cNvSpPr txBox="1"/>
          <p:nvPr/>
        </p:nvSpPr>
        <p:spPr>
          <a:xfrm>
            <a:off x="12992100" y="10490200"/>
            <a:ext cx="2565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협업 모델</a:t>
            </a:r>
            <a:endParaRPr/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확산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397" name="Google Shape;39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2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1612900"/>
            <a:ext cx="15319376" cy="1210310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2"/>
          <p:cNvSpPr txBox="1"/>
          <p:nvPr/>
        </p:nvSpPr>
        <p:spPr>
          <a:xfrm>
            <a:off x="15672950" y="2937800"/>
            <a:ext cx="8452200" cy="9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혈액형 별 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MBTI 지표 비교 분석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Char char="●"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혈액형에 따른 성격 차이는   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미미함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Char char="●"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혈액형과 MBTI는 상관 관계 X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300775" y="7612300"/>
            <a:ext cx="477300" cy="571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3006188" y="7612300"/>
            <a:ext cx="477300" cy="571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6469588" y="7612300"/>
            <a:ext cx="477300" cy="571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bfa6e77bc_3_77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cbfa6e77bc_3_77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410" name="Google Shape;410;g3cbfa6e77bc_3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3cbfa6e77bc_3_77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cbfa6e77bc_3_77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413" name="Google Shape;413;g3cbfa6e77bc_3_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cbfa6e77bc_3_77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cbfa6e77bc_3_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574800"/>
            <a:ext cx="24282399" cy="121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cbfa6e77bc_3_77"/>
          <p:cNvSpPr/>
          <p:nvPr/>
        </p:nvSpPr>
        <p:spPr>
          <a:xfrm>
            <a:off x="10841225" y="1654850"/>
            <a:ext cx="4874700" cy="785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bfa6e77bc_3_35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cbfa6e77bc_3_35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423" name="Google Shape;423;g3cbfa6e77bc_3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cbfa6e77bc_3_35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cbfa6e77bc_3_35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426" name="Google Shape;426;g3cbfa6e77bc_3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cbfa6e77bc_3_35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cbfa6e77bc_3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25" y="3221889"/>
            <a:ext cx="17424378" cy="10454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cbfa6e77bc_3_35"/>
          <p:cNvSpPr txBox="1"/>
          <p:nvPr/>
        </p:nvSpPr>
        <p:spPr>
          <a:xfrm>
            <a:off x="6265325" y="2024325"/>
            <a:ext cx="12977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연령대별</a:t>
            </a:r>
            <a:r>
              <a:rPr b="1" lang="en-US" sz="5600">
                <a:solidFill>
                  <a:schemeClr val="dk1"/>
                </a:solidFill>
              </a:rPr>
              <a:t> 혈액형 성격설에 대한 믿음</a:t>
            </a:r>
            <a:endParaRPr b="1" sz="5600">
              <a:solidFill>
                <a:schemeClr val="dk1"/>
              </a:solidFill>
            </a:endParaRPr>
          </a:p>
        </p:txBody>
      </p:sp>
      <p:sp>
        <p:nvSpPr>
          <p:cNvPr id="430" name="Google Shape;430;g3cbfa6e77bc_3_35"/>
          <p:cNvSpPr txBox="1"/>
          <p:nvPr/>
        </p:nvSpPr>
        <p:spPr>
          <a:xfrm>
            <a:off x="17926250" y="3428800"/>
            <a:ext cx="56112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p-value: 0.7664</a:t>
            </a:r>
            <a:endParaRPr b="1" sz="6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유의미한 연관성 X</a:t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cbfa6e77bc_3_35"/>
          <p:cNvSpPr/>
          <p:nvPr/>
        </p:nvSpPr>
        <p:spPr>
          <a:xfrm>
            <a:off x="6265325" y="12715400"/>
            <a:ext cx="4941600" cy="57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bfa6e77bc_2_658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bfa6e77bc_2_658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438" name="Google Shape;438;g3cbfa6e77bc_2_6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cbfa6e77bc_2_658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cbfa6e77bc_2_6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57100" y="9893300"/>
            <a:ext cx="94107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cbfa6e77bc_2_658"/>
          <p:cNvSpPr txBox="1"/>
          <p:nvPr/>
        </p:nvSpPr>
        <p:spPr>
          <a:xfrm>
            <a:off x="16192500" y="10464800"/>
            <a:ext cx="557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cbfa6e77bc_2_658"/>
          <p:cNvSpPr txBox="1"/>
          <p:nvPr/>
        </p:nvSpPr>
        <p:spPr>
          <a:xfrm>
            <a:off x="2705100" y="11010900"/>
            <a:ext cx="74295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bfa6e77bc_2_658"/>
          <p:cNvSpPr txBox="1"/>
          <p:nvPr/>
        </p:nvSpPr>
        <p:spPr>
          <a:xfrm>
            <a:off x="12992100" y="10490200"/>
            <a:ext cx="2565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cbfa6e77bc_2_658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445" name="Google Shape;445;g3cbfa6e77bc_2_6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cbfa6e77bc_2_658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cbfa6e77bc_2_6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23050" y="3473425"/>
            <a:ext cx="12360950" cy="736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cbfa6e77bc_2_6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3572325"/>
            <a:ext cx="11945050" cy="716702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cbfa6e77bc_2_658"/>
          <p:cNvSpPr txBox="1"/>
          <p:nvPr/>
        </p:nvSpPr>
        <p:spPr>
          <a:xfrm>
            <a:off x="6226450" y="2119575"/>
            <a:ext cx="12977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연령대별 </a:t>
            </a:r>
            <a:r>
              <a:rPr b="1" lang="en-US" sz="6300">
                <a:solidFill>
                  <a:schemeClr val="dk1"/>
                </a:solidFill>
              </a:rPr>
              <a:t>MBTI</a:t>
            </a:r>
            <a:r>
              <a:rPr b="1" lang="en-US" sz="5600">
                <a:solidFill>
                  <a:schemeClr val="dk1"/>
                </a:solidFill>
              </a:rPr>
              <a:t> vs </a:t>
            </a:r>
            <a:r>
              <a:rPr b="1" lang="en-US" sz="5600">
                <a:solidFill>
                  <a:schemeClr val="dk1"/>
                </a:solidFill>
              </a:rPr>
              <a:t>혈액형</a:t>
            </a:r>
            <a:r>
              <a:rPr b="1" lang="en-US" sz="5600">
                <a:solidFill>
                  <a:schemeClr val="dk1"/>
                </a:solidFill>
              </a:rPr>
              <a:t> </a:t>
            </a:r>
            <a:r>
              <a:rPr b="1" lang="en-US" sz="5600">
                <a:solidFill>
                  <a:schemeClr val="dk1"/>
                </a:solidFill>
              </a:rPr>
              <a:t>신뢰도</a:t>
            </a:r>
            <a:endParaRPr b="1" sz="5600">
              <a:solidFill>
                <a:schemeClr val="dk1"/>
              </a:solidFill>
            </a:endParaRPr>
          </a:p>
        </p:txBody>
      </p:sp>
      <p:sp>
        <p:nvSpPr>
          <p:cNvPr id="450" name="Google Shape;450;g3cbfa6e77bc_2_658"/>
          <p:cNvSpPr txBox="1"/>
          <p:nvPr/>
        </p:nvSpPr>
        <p:spPr>
          <a:xfrm>
            <a:off x="1066800" y="11366500"/>
            <a:ext cx="21843900" cy="15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Char char="●"/>
            </a:pP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신뢰도: MBTI &gt; 혈액형  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Char char="●"/>
            </a:pP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40대 이상이 혈액형 신뢰도 크고 20대가 제일 낮음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bfa6e77bc_2_874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cbfa6e77bc_2_874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457" name="Google Shape;457;g3cbfa6e77bc_2_8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cbfa6e77bc_2_874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cbfa6e77bc_2_874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460" name="Google Shape;460;g3cbfa6e77bc_2_8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cbfa6e77bc_2_874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cbfa6e77bc_2_8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650" y="3261350"/>
            <a:ext cx="23552700" cy="989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cbfa6e77bc_2_874"/>
          <p:cNvSpPr txBox="1"/>
          <p:nvPr/>
        </p:nvSpPr>
        <p:spPr>
          <a:xfrm>
            <a:off x="6018650" y="2024325"/>
            <a:ext cx="103485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같은 사람이 보는 </a:t>
            </a:r>
            <a:r>
              <a:rPr b="1" lang="en-US" sz="5400">
                <a:solidFill>
                  <a:schemeClr val="dk1"/>
                </a:solidFill>
              </a:rPr>
              <a:t>MBTI</a:t>
            </a:r>
            <a:r>
              <a:rPr b="1" lang="en-US" sz="4700">
                <a:solidFill>
                  <a:schemeClr val="dk1"/>
                </a:solidFill>
              </a:rPr>
              <a:t> </a:t>
            </a:r>
            <a:r>
              <a:rPr b="1" lang="en-US" sz="5600">
                <a:solidFill>
                  <a:schemeClr val="dk1"/>
                </a:solidFill>
              </a:rPr>
              <a:t>vs 혈액형</a:t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bfa6e77bc_3_119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cbfa6e77bc_3_119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470" name="Google Shape;470;g3cbfa6e77bc_3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cbfa6e77bc_3_11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cbfa6e77bc_3_119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473" name="Google Shape;473;g3cbfa6e77bc_3_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cbfa6e77bc_3_11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cbfa6e77bc_3_1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1450" y="3392640"/>
            <a:ext cx="17088383" cy="10253051"/>
          </a:xfrm>
          <a:prstGeom prst="rect">
            <a:avLst/>
          </a:prstGeom>
          <a:noFill/>
          <a:ln>
            <a:noFill/>
          </a:ln>
          <a:effectLst>
            <a:outerShdw blurRad="656922">
              <a:srgbClr val="4B4B4B">
                <a:alpha val="9020"/>
              </a:srgbClr>
            </a:outerShdw>
          </a:effectLst>
        </p:spPr>
      </p:pic>
      <p:sp>
        <p:nvSpPr>
          <p:cNvPr id="476" name="Google Shape;476;g3cbfa6e77bc_3_119"/>
          <p:cNvSpPr txBox="1"/>
          <p:nvPr/>
        </p:nvSpPr>
        <p:spPr>
          <a:xfrm>
            <a:off x="1054100" y="2024325"/>
            <a:ext cx="12977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cbfa6e77bc_3_119"/>
          <p:cNvSpPr txBox="1"/>
          <p:nvPr/>
        </p:nvSpPr>
        <p:spPr>
          <a:xfrm>
            <a:off x="4450049" y="2164275"/>
            <a:ext cx="154839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설문조사 결과 </a:t>
            </a:r>
            <a:r>
              <a:rPr b="1" lang="en-US" sz="6300">
                <a:solidFill>
                  <a:schemeClr val="dk1"/>
                </a:solidFill>
              </a:rPr>
              <a:t>MBTI</a:t>
            </a:r>
            <a:r>
              <a:rPr b="1" lang="en-US" sz="5600">
                <a:solidFill>
                  <a:schemeClr val="dk1"/>
                </a:solidFill>
              </a:rPr>
              <a:t> vs 혈액형 </a:t>
            </a:r>
            <a:r>
              <a:rPr b="1" lang="en-US" sz="5600">
                <a:solidFill>
                  <a:schemeClr val="dk1"/>
                </a:solidFill>
              </a:rPr>
              <a:t>성격론에 대한 생각</a:t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bfa6e77bc_2_1026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cbfa6e77bc_2_1026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484" name="Google Shape;484;g3cbfa6e77bc_2_10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cbfa6e77bc_2_1026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cbfa6e77bc_2_10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57100" y="7683500"/>
            <a:ext cx="9410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cbfa6e77bc_2_10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57100" y="9893300"/>
            <a:ext cx="94107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cbfa6e77bc_2_1026"/>
          <p:cNvSpPr txBox="1"/>
          <p:nvPr/>
        </p:nvSpPr>
        <p:spPr>
          <a:xfrm>
            <a:off x="2705100" y="11010900"/>
            <a:ext cx="74295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cbfa6e77bc_2_1026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490" name="Google Shape;490;g3cbfa6e77bc_2_10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3cbfa6e77bc_2_1026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cbfa6e77bc_2_1026"/>
          <p:cNvSpPr txBox="1"/>
          <p:nvPr/>
        </p:nvSpPr>
        <p:spPr>
          <a:xfrm>
            <a:off x="1054100" y="2024325"/>
            <a:ext cx="12977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cbfa6e77bc_2_1026"/>
          <p:cNvSpPr txBox="1"/>
          <p:nvPr/>
        </p:nvSpPr>
        <p:spPr>
          <a:xfrm>
            <a:off x="9575225" y="2408325"/>
            <a:ext cx="4879500" cy="14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중간 결론 </a:t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cbfa6e77bc_2_1026"/>
          <p:cNvSpPr txBox="1"/>
          <p:nvPr/>
        </p:nvSpPr>
        <p:spPr>
          <a:xfrm>
            <a:off x="1323875" y="4633550"/>
            <a:ext cx="21382200" cy="6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Char char="●"/>
            </a:pP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혈액형과 MBTI에 따른 성격 차이는 관계가 없음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Char char="●"/>
            </a:pP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연령대별로 혈액형, MBTI 성격설에 대한 인식도 큰 차이가 없음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Char char="●"/>
            </a:pP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MBTI가 혈액형보다 더 신빙성이 있다고 생각함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혈액형과 MBTI 모두 과학적 근거보다는 심리적, 사회적 요인에 의해 재미요소로 소비되고 있음.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bfa6e77bc_3_161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cbfa6e77bc_3_161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501" name="Google Shape;501;g3cbfa6e77bc_3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cbfa6e77bc_3_161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3cbfa6e77bc_3_161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504" name="Google Shape;504;g3cbfa6e77bc_3_1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g3cbfa6e77bc_3_161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cbfa6e77bc_3_1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0900" y="2970950"/>
            <a:ext cx="19149500" cy="1063144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cbfa6e77bc_3_161"/>
          <p:cNvSpPr txBox="1"/>
          <p:nvPr/>
        </p:nvSpPr>
        <p:spPr>
          <a:xfrm>
            <a:off x="8897200" y="1939850"/>
            <a:ext cx="65769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>
                <a:solidFill>
                  <a:schemeClr val="dk1"/>
                </a:solidFill>
              </a:rPr>
              <a:t>MBTI</a:t>
            </a:r>
            <a:r>
              <a:rPr b="1" lang="en-US" sz="5600">
                <a:solidFill>
                  <a:schemeClr val="dk1"/>
                </a:solidFill>
              </a:rPr>
              <a:t> 개요</a:t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cbfa6e77bc_3_161"/>
          <p:cNvSpPr/>
          <p:nvPr/>
        </p:nvSpPr>
        <p:spPr>
          <a:xfrm>
            <a:off x="18793242" y="12384590"/>
            <a:ext cx="711300" cy="5715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cbfa6e77bc_3_161"/>
          <p:cNvSpPr/>
          <p:nvPr/>
        </p:nvSpPr>
        <p:spPr>
          <a:xfrm>
            <a:off x="11437296" y="12384596"/>
            <a:ext cx="711300" cy="5715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bfa6e77bc_3_243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cbfa6e77bc_3_243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516" name="Google Shape;516;g3cbfa6e77bc_3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cbfa6e77bc_3_243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cbfa6e77bc_3_243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519" name="Google Shape;519;g3cbfa6e77bc_3_2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cbfa6e77bc_3_243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cbfa6e77bc_3_2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4038" y="2934075"/>
            <a:ext cx="20075935" cy="1077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cbfa6e77bc_3_243"/>
          <p:cNvSpPr txBox="1"/>
          <p:nvPr/>
        </p:nvSpPr>
        <p:spPr>
          <a:xfrm>
            <a:off x="10440750" y="1886175"/>
            <a:ext cx="3502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MBTI 개요 </a:t>
            </a:r>
            <a:endParaRPr b="1"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cbfa6e77bc_3_243"/>
          <p:cNvSpPr/>
          <p:nvPr/>
        </p:nvSpPr>
        <p:spPr>
          <a:xfrm>
            <a:off x="4730650" y="12155650"/>
            <a:ext cx="825600" cy="5715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cbfa6e77bc_3_243"/>
          <p:cNvSpPr/>
          <p:nvPr/>
        </p:nvSpPr>
        <p:spPr>
          <a:xfrm>
            <a:off x="5657450" y="12155650"/>
            <a:ext cx="825600" cy="5715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bfa6e77bc_2_786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cbfa6e77bc_2_786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531" name="Google Shape;531;g3cbfa6e77bc_2_7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g3cbfa6e77bc_2_786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cbfa6e77bc_2_786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534" name="Google Shape;534;g3cbfa6e77bc_2_7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3cbfa6e77bc_2_786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g3cbfa6e77bc_2_7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8162" y="1706094"/>
            <a:ext cx="17494976" cy="1196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bfa6e77bc_2_702"/>
          <p:cNvSpPr txBox="1"/>
          <p:nvPr/>
        </p:nvSpPr>
        <p:spPr>
          <a:xfrm>
            <a:off x="2108200" y="850900"/>
            <a:ext cx="607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cbfa6e77bc_2_702"/>
          <p:cNvSpPr txBox="1"/>
          <p:nvPr/>
        </p:nvSpPr>
        <p:spPr>
          <a:xfrm>
            <a:off x="1066800" y="8128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06</a:t>
            </a:r>
            <a:endParaRPr/>
          </a:p>
        </p:txBody>
      </p:sp>
      <p:pic>
        <p:nvPicPr>
          <p:cNvPr id="543" name="Google Shape;543;g3cbfa6e77bc_2_7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cbfa6e77bc_2_70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cbfa6e77bc_2_702"/>
          <p:cNvSpPr txBox="1"/>
          <p:nvPr/>
        </p:nvSpPr>
        <p:spPr>
          <a:xfrm>
            <a:off x="2108200" y="850900"/>
            <a:ext cx="831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혈액형으로 성격 유형론 데이터 검증</a:t>
            </a:r>
            <a:endParaRPr/>
          </a:p>
        </p:txBody>
      </p:sp>
      <p:pic>
        <p:nvPicPr>
          <p:cNvPr id="546" name="Google Shape;546;g3cbfa6e77bc_2_7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cbfa6e77bc_2_70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cbfa6e77bc_2_7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6350" y="1612900"/>
            <a:ext cx="24383999" cy="1193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cbfa6e77bc_1_30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  <p:sp>
        <p:nvSpPr>
          <p:cNvPr id="554" name="Google Shape;554;g3cbfa6e77bc_1_30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555" name="Google Shape;555;g3cbfa6e77bc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g3cbfa6e77bc_1_30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cbfa6e77bc_1_30"/>
          <p:cNvSpPr txBox="1"/>
          <p:nvPr/>
        </p:nvSpPr>
        <p:spPr>
          <a:xfrm>
            <a:off x="2184400" y="2057400"/>
            <a:ext cx="20015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66">
                <a:solidFill>
                  <a:srgbClr val="4B4B4B"/>
                </a:solidFill>
              </a:rPr>
              <a:t>소주제  : MBTI</a:t>
            </a:r>
            <a:r>
              <a:rPr b="1" lang="en-US" sz="4666">
                <a:solidFill>
                  <a:srgbClr val="4B4B4B"/>
                </a:solidFill>
              </a:rPr>
              <a:t>로 관심사를 맞출 수 있을까?</a:t>
            </a:r>
            <a:endParaRPr b="1"/>
          </a:p>
        </p:txBody>
      </p:sp>
      <p:pic>
        <p:nvPicPr>
          <p:cNvPr id="558" name="Google Shape;558;g3cbfa6e77bc_1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0488" y="3327500"/>
            <a:ext cx="18350326" cy="1012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4a498960b_0_189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564" name="Google Shape;564;g3c4a498960b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3c4a498960b_0_18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c4a498960b_0_189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MBTI 차원 점수로 관심사를 예측할 수 있는가?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567" name="Google Shape;567;g3c4a498960b_0_1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450" y="3740150"/>
            <a:ext cx="22989100" cy="72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c4a498960b_0_189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4a498960b_0_180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574" name="Google Shape;574;g3c4a498960b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c4a498960b_0_180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g3c4a498960b_0_180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가설 설정 : “MBTI로 관심사를 맞출 수 있을지?”를 다각도로 검증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577" name="Google Shape;577;g3c4a498960b_0_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2088" y="3228975"/>
            <a:ext cx="18447125" cy="97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c4a498960b_0_180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c4a498960b_0_171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584" name="Google Shape;584;g3c4a498960b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g3c4a498960b_0_171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c4a498960b_0_171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가설 설정 : “MBTI가 관심사를 설명하는가?”를 다각도로 검증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587" name="Google Shape;587;g3c4a498960b_0_1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450" y="3619500"/>
            <a:ext cx="21971101" cy="93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3c4a498960b_0_171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4a498960b_0_139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594" name="Google Shape;594;g3c4a498960b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3c4a498960b_0_13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g3c4a498960b_0_139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데이터 탐색 - 분포를 보면 답이 보인다.</a:t>
            </a:r>
            <a:endParaRPr b="1"/>
          </a:p>
        </p:txBody>
      </p:sp>
      <p:pic>
        <p:nvPicPr>
          <p:cNvPr id="597" name="Google Shape;597;g3c4a498960b_0_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2900" y="2933750"/>
            <a:ext cx="14018207" cy="10506826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c4a498960b_0_139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4a498960b_0_35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04" name="Google Shape;604;g3c4a498960b_0_3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c4a498960b_0_35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c4a498960b_0_35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데이터 탐색 - 분포를 보면 답이 보인다.</a:t>
            </a:r>
            <a:endParaRPr b="1"/>
          </a:p>
        </p:txBody>
      </p:sp>
      <p:pic>
        <p:nvPicPr>
          <p:cNvPr id="607" name="Google Shape;607;g3c4a498960b_0_3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7150" y="3203650"/>
            <a:ext cx="21329699" cy="938623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c4a498960b_0_35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4a498960b_0_199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14" name="Google Shape;614;g3c4a498960b_0_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g3c4a498960b_0_19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3c4a498960b_0_199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10개의 가설 검정 결과 - 관심사와는 무관하다</a:t>
            </a:r>
            <a:endParaRPr b="1"/>
          </a:p>
        </p:txBody>
      </p:sp>
      <p:pic>
        <p:nvPicPr>
          <p:cNvPr id="617" name="Google Shape;617;g3c4a498960b_0_1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7850" y="2933750"/>
            <a:ext cx="13253745" cy="10477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g3c4a498960b_0_1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42100" y="5750538"/>
            <a:ext cx="8794876" cy="48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g3c4a498960b_0_199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c4a498960b_0_219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25" name="Google Shape;625;g3c4a498960b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g3c4a498960b_0_21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c4a498960b_0_219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10개의 가설 검정 결과 - 관심사와는 무관하다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628" name="Google Shape;628;g3c4a498960b_0_2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8775" y="2933750"/>
            <a:ext cx="15055450" cy="822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c4a498960b_0_2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8775" y="11160775"/>
            <a:ext cx="15010589" cy="23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g3c4a498960b_0_219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c4a498960b_0_228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36" name="Google Shape;636;g3c4a498960b_0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g3c4a498960b_0_228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3c4a498960b_0_228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비모수 검정 - 유형 x  관심사 연관 (MBTI 유형과 관심사가 연관이 있는가?)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639" name="Google Shape;639;g3c4a498960b_0_2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4100" y="2933750"/>
            <a:ext cx="12527224" cy="1047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c4a498960b_0_2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97400" y="2933750"/>
            <a:ext cx="9380149" cy="29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c4a498960b_0_228"/>
          <p:cNvSpPr txBox="1"/>
          <p:nvPr/>
        </p:nvSpPr>
        <p:spPr>
          <a:xfrm>
            <a:off x="13797400" y="6503702"/>
            <a:ext cx="93801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dk1"/>
                </a:solidFill>
              </a:rPr>
              <a:t>카이제곱 결과 -&gt; 통계적으로 유의하나</a:t>
            </a:r>
            <a:endParaRPr b="1" sz="4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dk1"/>
                </a:solidFill>
              </a:rPr>
              <a:t>크래머 V계수 결과 -&gt; “약한 연관”에 불과</a:t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642" name="Google Shape;642;g3c4a498960b_0_228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c4a498960b_0_377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48" name="Google Shape;648;g3c4a498960b_0_3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g3c4a498960b_0_377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g3c4a498960b_0_377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유일한 </a:t>
            </a:r>
            <a:r>
              <a:rPr b="1" lang="en-US" sz="4650">
                <a:solidFill>
                  <a:schemeClr val="dk1"/>
                </a:solidFill>
              </a:rPr>
              <a:t>약한 연관</a:t>
            </a:r>
            <a:r>
              <a:rPr b="1" lang="en-US" sz="4650">
                <a:solidFill>
                  <a:schemeClr val="dk1"/>
                </a:solidFill>
              </a:rPr>
              <a:t> + 비모수 검정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651" name="Google Shape;651;g3c4a498960b_0_3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450" y="3086150"/>
            <a:ext cx="21971098" cy="430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c4a498960b_0_3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6450" y="7542483"/>
            <a:ext cx="21971099" cy="486894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c4a498960b_0_377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4a498960b_0_55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59" name="Google Shape;659;g3c4a498960b_0_5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g3c4a498960b_0_55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g3c4a498960b_0_55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PCA 시각화 - 관심사 그룹 분리 불가능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662" name="Google Shape;662;g3c4a498960b_0_5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300" y="2933750"/>
            <a:ext cx="22263101" cy="977271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g3c4a498960b_0_55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c4a498960b_0_54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69" name="Google Shape;669;g3c4a498960b_0_5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3c4a498960b_0_54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g3c4a498960b_0_54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PCA 시각화 - 관심사 그룹 분리 불가능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672" name="Google Shape;672;g3c4a498960b_0_5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4100" y="3174275"/>
            <a:ext cx="22263098" cy="488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g3c4a498960b_0_5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6450" y="8300332"/>
            <a:ext cx="21971099" cy="4821436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g3c4a498960b_0_54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4a498960b_0_64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80" name="Google Shape;680;g3c4a498960b_0_6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g3c4a498960b_0_64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g3c4a498960b_0_64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교차 검증의 필요성</a:t>
            </a:r>
            <a:endParaRPr b="1" sz="4650">
              <a:solidFill>
                <a:schemeClr val="dk1"/>
              </a:solidFill>
            </a:endParaRPr>
          </a:p>
        </p:txBody>
      </p:sp>
      <p:pic>
        <p:nvPicPr>
          <p:cNvPr id="683" name="Google Shape;683;g3c4a498960b_0_6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6225" y="8959400"/>
            <a:ext cx="22639075" cy="29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g3c4a498960b_0_6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7038" y="4641575"/>
            <a:ext cx="22457450" cy="175907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g3c4a498960b_0_642"/>
          <p:cNvSpPr/>
          <p:nvPr/>
        </p:nvSpPr>
        <p:spPr>
          <a:xfrm>
            <a:off x="11896675" y="7137538"/>
            <a:ext cx="838200" cy="123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c4a498960b_0_64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c4a498960b_0_39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pic>
        <p:nvPicPr>
          <p:cNvPr id="692" name="Google Shape;692;g3c4a498960b_0_3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g3c4a498960b_0_39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c4a498960b_0_39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내용</a:t>
            </a:r>
            <a:endParaRPr b="1"/>
          </a:p>
        </p:txBody>
      </p:sp>
      <p:pic>
        <p:nvPicPr>
          <p:cNvPr id="695" name="Google Shape;695;g3c4a498960b_0_3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450" y="3740150"/>
            <a:ext cx="21971101" cy="577543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3c4a498960b_0_39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c4a498960b_0_403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2" name="Google Shape;702;g3c4a498960b_0_4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c4a498960b_0_403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c4a498960b_0_403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내용</a:t>
            </a:r>
            <a:endParaRPr b="1"/>
          </a:p>
        </p:txBody>
      </p:sp>
      <p:pic>
        <p:nvPicPr>
          <p:cNvPr id="705" name="Google Shape;705;g3c4a498960b_0_4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1513" y="2933750"/>
            <a:ext cx="19440976" cy="1062629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g3c4a498960b_0_403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07" name="Google Shape;707;g3c4a498960b_0_403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g3c4a498960b_0_4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g3c4a498960b_0_413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c4a498960b_0_413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내용</a:t>
            </a:r>
            <a:endParaRPr b="1"/>
          </a:p>
        </p:txBody>
      </p:sp>
      <p:pic>
        <p:nvPicPr>
          <p:cNvPr id="715" name="Google Shape;715;g3c4a498960b_0_4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4100" y="2933750"/>
            <a:ext cx="21971101" cy="684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g3c4a498960b_0_4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0450" y="10254193"/>
            <a:ext cx="22263102" cy="2074587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g3c4a498960b_0_413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18" name="Google Shape;718;g3c4a498960b_0_413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g3c4a498960b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g3c4a498960b_0_209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g3c4a498960b_0_209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교차 검증 - “내가 아는 나”와 “설문에서 측정하 나”는 다르다.</a:t>
            </a:r>
            <a:endParaRPr b="1"/>
          </a:p>
        </p:txBody>
      </p:sp>
      <p:pic>
        <p:nvPicPr>
          <p:cNvPr id="726" name="Google Shape;726;g3c4a498960b_0_2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450" y="3325056"/>
            <a:ext cx="21971098" cy="9655267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3c4a498960b_0_209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28" name="Google Shape;728;g3c4a498960b_0_209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g3c4a498960b_0_5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g3c4a498960b_0_531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g3c4a498960b_0_531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교차 검증 - “내가 아는 나”와 “설문에서 측정하 나”는 다르다.</a:t>
            </a:r>
            <a:endParaRPr b="1"/>
          </a:p>
        </p:txBody>
      </p:sp>
      <p:pic>
        <p:nvPicPr>
          <p:cNvPr id="736" name="Google Shape;736;g3c4a498960b_0_5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5900" y="2933750"/>
            <a:ext cx="19819499" cy="617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3c4a498960b_0_5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2250" y="9260046"/>
            <a:ext cx="19819501" cy="4300204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g3c4a498960b_0_531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39" name="Google Shape;739;g3c4a498960b_0_531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g3c4a498960b_0_3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g3c4a498960b_0_33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g3c4a498960b_0_33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교차검증 - 로지스틱 회귀 LOO - CV (Leave-One-Out-Cross-Validation)</a:t>
            </a:r>
            <a:endParaRPr b="1"/>
          </a:p>
        </p:txBody>
      </p:sp>
      <p:pic>
        <p:nvPicPr>
          <p:cNvPr id="747" name="Google Shape;747;g3c4a498960b_0_3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450" y="4926900"/>
            <a:ext cx="21971101" cy="847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g3c4a498960b_0_3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2575" y="3086150"/>
            <a:ext cx="13486160" cy="145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g3c4a498960b_0_33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50" name="Google Shape;750;g3c4a498960b_0_33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g3c4a498960b_0_3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3c4a498960b_0_323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3c4a498960b_0_323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교차검증 - 로지스틱 회귀 LOO - CV (Leave-One-Out-Cross-Validation)</a:t>
            </a:r>
            <a:endParaRPr b="1"/>
          </a:p>
        </p:txBody>
      </p:sp>
      <p:pic>
        <p:nvPicPr>
          <p:cNvPr id="758" name="Google Shape;758;g3c4a498960b_0_3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925" y="3144900"/>
            <a:ext cx="23702150" cy="90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g3c4a498960b_0_323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60" name="Google Shape;760;g3c4a498960b_0_323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g3c4a498960b_0_4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g3c4a498960b_0_48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g3c4a498960b_0_48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설문지 교차검증 - 로지스틱 회귀 LOO - CV (Leave-One-Out-Cross-Validation)</a:t>
            </a:r>
            <a:endParaRPr b="1"/>
          </a:p>
        </p:txBody>
      </p:sp>
      <p:pic>
        <p:nvPicPr>
          <p:cNvPr id="768" name="Google Shape;768;g3c4a498960b_0_4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0275" y="3429001"/>
            <a:ext cx="22110749" cy="914610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g3c4a498960b_0_48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70" name="Google Shape;770;g3c4a498960b_0_48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g3c4a498960b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g3c4a498960b_0_247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g3c4a498960b_0_247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로지스틱 회귀 건정성 확인 - 모형이 정말 건전한가?</a:t>
            </a:r>
            <a:endParaRPr b="1"/>
          </a:p>
        </p:txBody>
      </p:sp>
      <p:pic>
        <p:nvPicPr>
          <p:cNvPr id="778" name="Google Shape;778;g3c4a498960b_0_2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13" y="3996650"/>
            <a:ext cx="23295676" cy="80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g3c4a498960b_0_247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80" name="Google Shape;780;g3c4a498960b_0_247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g3c4a498960b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g3c4a498960b_0_287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3c4a498960b_0_287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로지스틱 회귀 건정성 확인 - 모형이 정말 건전한가?</a:t>
            </a:r>
            <a:endParaRPr b="1"/>
          </a:p>
        </p:txBody>
      </p:sp>
      <p:pic>
        <p:nvPicPr>
          <p:cNvPr id="788" name="Google Shape;788;g3c4a498960b_0_2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138" y="3619500"/>
            <a:ext cx="23891024" cy="82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g3c4a498960b_0_287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790" name="Google Shape;790;g3c4a498960b_0_287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g3c4a498960b_0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c4a498960b_0_521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g3c4a498960b_0_5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450" y="1765301"/>
            <a:ext cx="22263099" cy="710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g3c4a498960b_0_5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3300" y="8867250"/>
            <a:ext cx="22263101" cy="4584425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g3c4a498960b_0_521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800" name="Google Shape;800;g3c4a498960b_0_521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g3c4a498960b_0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g3c4a498960b_0_255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c4a498960b_0_255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중간결론 - MBTI 차원 점수는 관심사를 예측하지 못한다.</a:t>
            </a:r>
            <a:endParaRPr b="1"/>
          </a:p>
        </p:txBody>
      </p:sp>
      <p:pic>
        <p:nvPicPr>
          <p:cNvPr id="808" name="Google Shape;808;g3c4a498960b_0_2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0125" y="2933750"/>
            <a:ext cx="19383757" cy="10477451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g3c4a498960b_0_255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810" name="Google Shape;810;g3c4a498960b_0_255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g3c4a498960b_0_4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g3c4a498960b_0_452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g3c4a498960b_0_452"/>
          <p:cNvSpPr txBox="1"/>
          <p:nvPr/>
        </p:nvSpPr>
        <p:spPr>
          <a:xfrm>
            <a:off x="1206450" y="2108150"/>
            <a:ext cx="2197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chemeClr val="dk1"/>
                </a:solidFill>
              </a:rPr>
              <a:t>중간결론 - MBTI 차원 점수는 관심사를 예측하지 못한다.</a:t>
            </a:r>
            <a:endParaRPr b="1"/>
          </a:p>
        </p:txBody>
      </p:sp>
      <p:pic>
        <p:nvPicPr>
          <p:cNvPr id="818" name="Google Shape;818;g3c4a498960b_0_452"/>
          <p:cNvPicPr preferRelativeResize="0"/>
          <p:nvPr/>
        </p:nvPicPr>
        <p:blipFill rotWithShape="1">
          <a:blip r:embed="rId5">
            <a:alphaModFix/>
          </a:blip>
          <a:srcRect b="6289" l="0" r="0" t="-6290"/>
          <a:stretch/>
        </p:blipFill>
        <p:spPr>
          <a:xfrm>
            <a:off x="1002500" y="10162900"/>
            <a:ext cx="22379001" cy="2801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g3c4a498960b_0_4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0450" y="3219555"/>
            <a:ext cx="22263099" cy="6657545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g3c4a498960b_0_45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07</a:t>
            </a:r>
            <a:endParaRPr b="1"/>
          </a:p>
        </p:txBody>
      </p:sp>
      <p:sp>
        <p:nvSpPr>
          <p:cNvPr id="821" name="Google Shape;821;g3c4a498960b_0_452"/>
          <p:cNvSpPr txBox="1"/>
          <p:nvPr/>
        </p:nvSpPr>
        <p:spPr>
          <a:xfrm>
            <a:off x="2108200" y="850900"/>
            <a:ext cx="1005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MBTI로 관심사를 맞출 수 있을까?</a:t>
            </a:r>
            <a:endParaRPr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cbfa6e77bc_1_48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827" name="Google Shape;827;g3cbfa6e77bc_1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g3cbfa6e77bc_1_48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g3cbfa6e77bc_1_48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  <p:sp>
        <p:nvSpPr>
          <p:cNvPr id="830" name="Google Shape;830;g3cbfa6e77bc_1_48"/>
          <p:cNvSpPr txBox="1"/>
          <p:nvPr/>
        </p:nvSpPr>
        <p:spPr>
          <a:xfrm>
            <a:off x="2184400" y="2057400"/>
            <a:ext cx="20015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66">
                <a:solidFill>
                  <a:srgbClr val="4B4B4B"/>
                </a:solidFill>
              </a:rPr>
              <a:t>소주제  : </a:t>
            </a:r>
            <a:r>
              <a:rPr b="1" lang="en-US" sz="4666">
                <a:solidFill>
                  <a:srgbClr val="4B4B4B"/>
                </a:solidFill>
              </a:rPr>
              <a:t>자체 설문 데이터 분석 &amp; MBTI 예측</a:t>
            </a:r>
            <a:endParaRPr b="1"/>
          </a:p>
        </p:txBody>
      </p:sp>
      <p:pic>
        <p:nvPicPr>
          <p:cNvPr id="831" name="Google Shape;831;g3cbfa6e77bc_1_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0725" y="3327511"/>
            <a:ext cx="18262554" cy="996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g3cbfa6e77bc_2_6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7" name="Google Shape;837;g3cbfa6e77bc_2_63"/>
          <p:cNvGrpSpPr/>
          <p:nvPr/>
        </p:nvGrpSpPr>
        <p:grpSpPr>
          <a:xfrm>
            <a:off x="4844843" y="2992531"/>
            <a:ext cx="14694298" cy="10525269"/>
            <a:chOff x="1054100" y="1661488"/>
            <a:chExt cx="16594351" cy="11886244"/>
          </a:xfrm>
        </p:grpSpPr>
        <p:pic>
          <p:nvPicPr>
            <p:cNvPr id="838" name="Google Shape;838;g3cbfa6e77bc_2_63" title="01_gender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54100" y="1673476"/>
              <a:ext cx="8191427" cy="5799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9" name="Google Shape;839;g3cbfa6e77bc_2_63" title="02_ag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423125" y="1661488"/>
              <a:ext cx="8225326" cy="58235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0" name="Google Shape;840;g3cbfa6e77bc_2_63" title="03_test_method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55568" y="7724150"/>
              <a:ext cx="8191427" cy="58235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1" name="Google Shape;841;g3cbfa6e77bc_2_63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842" name="Google Shape;842;g3cbfa6e77bc_2_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g3cbfa6e77bc_2_63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 </a:t>
            </a:r>
            <a:endParaRPr b="1" sz="3200">
              <a:solidFill>
                <a:srgbClr val="9964A3"/>
              </a:solidFill>
            </a:endParaRPr>
          </a:p>
        </p:txBody>
      </p:sp>
      <p:sp>
        <p:nvSpPr>
          <p:cNvPr id="844" name="Google Shape;844;g3cbfa6e77bc_2_63"/>
          <p:cNvSpPr txBox="1"/>
          <p:nvPr/>
        </p:nvSpPr>
        <p:spPr>
          <a:xfrm>
            <a:off x="2184400" y="2057400"/>
            <a:ext cx="20015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66">
                <a:solidFill>
                  <a:srgbClr val="4B4B4B"/>
                </a:solidFill>
              </a:rPr>
              <a:t>자체 설문 데이터 탐색적 분석</a:t>
            </a:r>
            <a:endParaRPr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g3c4a498960b_2_19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g3c4a498960b_2_19" title="04_percep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100" y="2952475"/>
            <a:ext cx="22263101" cy="9522707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g3c4a498960b_2_19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852" name="Google Shape;852;g3c4a498960b_2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g3c4a498960b_2_19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g3c4a498960b_2_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g3c4a498960b_2_26" title="05_act_p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1513" y="2140375"/>
            <a:ext cx="17700977" cy="11149551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g3c4a498960b_2_26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861" name="Google Shape;861;g3c4a498960b_2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g3c4a498960b_2_26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  <p:sp>
        <p:nvSpPr>
          <p:cNvPr id="863" name="Google Shape;863;g3c4a498960b_2_26"/>
          <p:cNvSpPr/>
          <p:nvPr/>
        </p:nvSpPr>
        <p:spPr>
          <a:xfrm>
            <a:off x="12174000" y="10724550"/>
            <a:ext cx="2035500" cy="1688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g3c4a498960b_2_3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g3c4a498960b_2_33" title="06_regression_accurac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363" y="2192913"/>
            <a:ext cx="16509276" cy="10955127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g3c4a498960b_2_33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871" name="Google Shape;871;g3c4a498960b_2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g3c4a498960b_2_33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  <p:sp>
        <p:nvSpPr>
          <p:cNvPr id="873" name="Google Shape;873;g3c4a498960b_2_33"/>
          <p:cNvSpPr/>
          <p:nvPr/>
        </p:nvSpPr>
        <p:spPr>
          <a:xfrm>
            <a:off x="17447600" y="9082325"/>
            <a:ext cx="2683200" cy="4065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g3c4a498960b_2_57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g3c4a498960b_2_57"/>
          <p:cNvSpPr txBox="1"/>
          <p:nvPr/>
        </p:nvSpPr>
        <p:spPr>
          <a:xfrm>
            <a:off x="2108200" y="850900"/>
            <a:ext cx="2120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 분석 &amp; MBTI 예측</a:t>
            </a:r>
            <a:endParaRPr b="1" sz="3200">
              <a:solidFill>
                <a:srgbClr val="9964A3"/>
              </a:solidFill>
            </a:endParaRPr>
          </a:p>
        </p:txBody>
      </p:sp>
      <p:grpSp>
        <p:nvGrpSpPr>
          <p:cNvPr id="880" name="Google Shape;880;g3c4a498960b_2_57"/>
          <p:cNvGrpSpPr/>
          <p:nvPr/>
        </p:nvGrpSpPr>
        <p:grpSpPr>
          <a:xfrm>
            <a:off x="4632963" y="2824538"/>
            <a:ext cx="14097430" cy="10549169"/>
            <a:chOff x="1054100" y="1574800"/>
            <a:chExt cx="15423884" cy="11541760"/>
          </a:xfrm>
        </p:grpSpPr>
        <p:pic>
          <p:nvPicPr>
            <p:cNvPr id="881" name="Google Shape;881;g3c4a498960b_2_57" title="08-1_regression_ei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54100" y="1593850"/>
              <a:ext cx="7711923" cy="5761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2" name="Google Shape;882;g3c4a498960b_2_57" title="08-2_regression_sn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766025" y="1574800"/>
              <a:ext cx="7711959" cy="5761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3" name="Google Shape;883;g3c4a498960b_2_57" title="08-3_regression_tf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54100" y="7355200"/>
              <a:ext cx="7711923" cy="5761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4" name="Google Shape;884;g3c4a498960b_2_57" title="08-4_regression_jp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766038" y="7355188"/>
              <a:ext cx="7711923" cy="57613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85" name="Google Shape;885;g3c4a498960b_2_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g3c4a498960b_2_57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sp>
        <p:nvSpPr>
          <p:cNvPr id="887" name="Google Shape;887;g3c4a498960b_2_57"/>
          <p:cNvSpPr txBox="1"/>
          <p:nvPr/>
        </p:nvSpPr>
        <p:spPr>
          <a:xfrm>
            <a:off x="5000825" y="1875350"/>
            <a:ext cx="133617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4666">
                <a:solidFill>
                  <a:srgbClr val="4B4B4B"/>
                </a:solidFill>
              </a:rPr>
              <a:t>각 요소별 로지스틱 회귀 모델 수식 그래프</a:t>
            </a:r>
            <a:endParaRPr b="1" sz="4666">
              <a:solidFill>
                <a:srgbClr val="4B4B4B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Google Shape;892;g3c4a498960b_2_88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g3c4a498960b_2_88" title="09_regression_tot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9075" y="2036000"/>
            <a:ext cx="22148127" cy="10965926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g3c4a498960b_2_88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895" name="Google Shape;895;g3c4a498960b_2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g3c4a498960b_2_88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g3c4a498960b_2_137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g3c4a498960b_2_137" title="13_rf_accurac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1063" y="1941422"/>
            <a:ext cx="17081876" cy="113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g3c4a498960b_2_137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904" name="Google Shape;904;g3c4a498960b_2_1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g3c4a498960b_2_137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  <p:sp>
        <p:nvSpPr>
          <p:cNvPr id="906" name="Google Shape;906;g3c4a498960b_2_137"/>
          <p:cNvSpPr/>
          <p:nvPr/>
        </p:nvSpPr>
        <p:spPr>
          <a:xfrm>
            <a:off x="17678900" y="8655865"/>
            <a:ext cx="2683200" cy="457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g3c4a498960b_2_14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c4a498960b_2_145" title="12_rf_tre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100" y="2660534"/>
            <a:ext cx="22263101" cy="9544439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g3c4a498960b_2_145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914" name="Google Shape;914;g3c4a498960b_2_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3c4a498960b_2_145"/>
          <p:cNvSpPr txBox="1"/>
          <p:nvPr/>
        </p:nvSpPr>
        <p:spPr>
          <a:xfrm>
            <a:off x="2108200" y="850900"/>
            <a:ext cx="2120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oogle Shape;920;g3c4a498960b_2_152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g3c4a498960b_2_152"/>
          <p:cNvSpPr txBox="1"/>
          <p:nvPr/>
        </p:nvSpPr>
        <p:spPr>
          <a:xfrm>
            <a:off x="2108200" y="850900"/>
            <a:ext cx="2120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분석 &amp; MBTI 예측</a:t>
            </a:r>
            <a:endParaRPr>
              <a:solidFill>
                <a:srgbClr val="9964A3"/>
              </a:solidFill>
            </a:endParaRPr>
          </a:p>
        </p:txBody>
      </p:sp>
      <p:pic>
        <p:nvPicPr>
          <p:cNvPr id="922" name="Google Shape;922;g3c4a498960b_2_152" title="11_rf_cm_tot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6776" y="1985025"/>
            <a:ext cx="12670674" cy="114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3c4a498960b_2_15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924" name="Google Shape;924;g3c4a498960b_2_1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g3c4a498960b_2_10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g3c4a498960b_2_104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8</a:t>
            </a:r>
            <a:endParaRPr b="1"/>
          </a:p>
        </p:txBody>
      </p:sp>
      <p:pic>
        <p:nvPicPr>
          <p:cNvPr id="931" name="Google Shape;931;g3c4a498960b_2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g3c4a498960b_2_104"/>
          <p:cNvSpPr txBox="1"/>
          <p:nvPr/>
        </p:nvSpPr>
        <p:spPr>
          <a:xfrm>
            <a:off x="2108200" y="850900"/>
            <a:ext cx="1111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9964A3"/>
                </a:solidFill>
              </a:rPr>
              <a:t>자체 설문 데이터 분석 &amp; MBTI 예측</a:t>
            </a:r>
            <a:endParaRPr b="1" sz="3200">
              <a:solidFill>
                <a:srgbClr val="9964A3"/>
              </a:solidFill>
            </a:endParaRPr>
          </a:p>
        </p:txBody>
      </p:sp>
      <p:grpSp>
        <p:nvGrpSpPr>
          <p:cNvPr id="933" name="Google Shape;933;g3c4a498960b_2_104"/>
          <p:cNvGrpSpPr/>
          <p:nvPr/>
        </p:nvGrpSpPr>
        <p:grpSpPr>
          <a:xfrm>
            <a:off x="7740650" y="3429000"/>
            <a:ext cx="8902700" cy="8953499"/>
            <a:chOff x="7740650" y="3429000"/>
            <a:chExt cx="8902700" cy="8953499"/>
          </a:xfrm>
        </p:grpSpPr>
        <p:pic>
          <p:nvPicPr>
            <p:cNvPr id="934" name="Google Shape;934;g3c4a498960b_2_10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40650" y="3429000"/>
              <a:ext cx="8902700" cy="8953499"/>
            </a:xfrm>
            <a:prstGeom prst="rect">
              <a:avLst/>
            </a:prstGeom>
            <a:noFill/>
            <a:ln>
              <a:noFill/>
            </a:ln>
            <a:effectLst>
              <a:outerShdw blurRad="667831">
                <a:srgbClr val="4B4B4B">
                  <a:alpha val="9020"/>
                </a:srgbClr>
              </a:outerShdw>
            </a:effectLst>
          </p:spPr>
        </p:pic>
        <p:sp>
          <p:nvSpPr>
            <p:cNvPr id="935" name="Google Shape;935;g3c4a498960b_2_104"/>
            <p:cNvSpPr txBox="1"/>
            <p:nvPr/>
          </p:nvSpPr>
          <p:spPr>
            <a:xfrm>
              <a:off x="8230450" y="7231325"/>
              <a:ext cx="7910400" cy="42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4508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Noto Sans"/>
                <a:buChar char="●"/>
              </a:pPr>
              <a:r>
                <a:rPr b="1" lang="en-US" sz="35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두 가지 모델로 분석을 해보니 정확도가 각각  31.25%, 37.5%</a:t>
              </a:r>
              <a:endParaRPr b="1" sz="3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4508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Noto Sans"/>
                <a:buChar char="●"/>
              </a:pPr>
              <a:r>
                <a:rPr b="1" lang="en-US" sz="35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모델을 수정할 필요성을 느낌</a:t>
              </a:r>
              <a:endParaRPr b="1" sz="3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936" name="Google Shape;936;g3c4a498960b_2_10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132325" y="4593175"/>
              <a:ext cx="6006200" cy="1663800"/>
            </a:xfrm>
            <a:prstGeom prst="rect">
              <a:avLst/>
            </a:prstGeom>
            <a:noFill/>
            <a:ln>
              <a:noFill/>
            </a:ln>
            <a:effectLst>
              <a:outerShdw blurRad="36620">
                <a:srgbClr val="9E9E9E">
                  <a:alpha val="16860"/>
                </a:srgbClr>
              </a:outerShdw>
            </a:effectLst>
          </p:spPr>
        </p:pic>
        <p:sp>
          <p:nvSpPr>
            <p:cNvPr id="937" name="Google Shape;937;g3c4a498960b_2_104"/>
            <p:cNvSpPr txBox="1"/>
            <p:nvPr/>
          </p:nvSpPr>
          <p:spPr>
            <a:xfrm>
              <a:off x="10237175" y="5040922"/>
              <a:ext cx="37965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30475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00">
                  <a:solidFill>
                    <a:srgbClr val="FFFFFF"/>
                  </a:solidFill>
                </a:rPr>
                <a:t>중간 결론</a:t>
              </a:r>
              <a:endParaRPr sz="4700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g3cbfa6e77bc_1_39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3cbfa6e77bc_1_39"/>
          <p:cNvSpPr txBox="1"/>
          <p:nvPr/>
        </p:nvSpPr>
        <p:spPr>
          <a:xfrm>
            <a:off x="2184400" y="2057400"/>
            <a:ext cx="20015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소주제  : </a:t>
            </a:r>
            <a:r>
              <a:rPr lang="en-US" sz="4666">
                <a:solidFill>
                  <a:srgbClr val="4B4B4B"/>
                </a:solidFill>
              </a:rPr>
              <a:t>정말 우리가 만든 MBTI는 기존의 검사지를 예측할 수 없을까?</a:t>
            </a:r>
            <a:endParaRPr/>
          </a:p>
        </p:txBody>
      </p:sp>
      <p:pic>
        <p:nvPicPr>
          <p:cNvPr id="944" name="Google Shape;944;g3cbfa6e77bc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725" y="3327511"/>
            <a:ext cx="18262554" cy="9969499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cbfa6e77bc_1_39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946" name="Google Shape;946;g3cbfa6e77bc_1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g3cbfa6e77bc_1_39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g3c4a498960b_1_15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g3c4a498960b_1_153"/>
          <p:cNvSpPr txBox="1"/>
          <p:nvPr/>
        </p:nvSpPr>
        <p:spPr>
          <a:xfrm>
            <a:off x="3695700" y="2019300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회귀식에서 각 지표별 </a:t>
            </a:r>
            <a:r>
              <a:rPr lang="en-US" sz="4666">
                <a:solidFill>
                  <a:srgbClr val="4B4B4B"/>
                </a:solidFill>
              </a:rPr>
              <a:t>질문에 가중치를 부여한다면?</a:t>
            </a:r>
            <a:endParaRPr/>
          </a:p>
        </p:txBody>
      </p:sp>
      <p:pic>
        <p:nvPicPr>
          <p:cNvPr id="954" name="Google Shape;954;g3c4a498960b_1_15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g3c4a498960b_1_153" title="처음회귀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4613" y="4155025"/>
            <a:ext cx="8743850" cy="845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g3c4a498960b_1_153" title="지표별 예측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13938" y="4089500"/>
            <a:ext cx="9195449" cy="85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g3c4a498960b_1_153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958" name="Google Shape;958;g3c4a498960b_1_1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g3c4a498960b_1_153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g3cbfa6e77bc_2_271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g3cbfa6e77bc_2_271"/>
          <p:cNvSpPr txBox="1"/>
          <p:nvPr/>
        </p:nvSpPr>
        <p:spPr>
          <a:xfrm>
            <a:off x="3695700" y="2019300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회귀식에서 각 지표별 어떤 질문에 가중치가 높은가?</a:t>
            </a:r>
            <a:endParaRPr/>
          </a:p>
        </p:txBody>
      </p:sp>
      <p:pic>
        <p:nvPicPr>
          <p:cNvPr id="966" name="Google Shape;966;g3cbfa6e77bc_2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46725" y="4192900"/>
            <a:ext cx="8902700" cy="8953499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967" name="Google Shape;967;g3cbfa6e77bc_2_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38400" y="5357075"/>
            <a:ext cx="6006200" cy="16638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968" name="Google Shape;968;g3cbfa6e77bc_2_271"/>
          <p:cNvSpPr txBox="1"/>
          <p:nvPr/>
        </p:nvSpPr>
        <p:spPr>
          <a:xfrm>
            <a:off x="17199835" y="5862788"/>
            <a:ext cx="3796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FFFF"/>
                </a:solidFill>
              </a:rPr>
              <a:t>지표별 제거 질문</a:t>
            </a:r>
            <a:endParaRPr sz="3800"/>
          </a:p>
        </p:txBody>
      </p:sp>
      <p:graphicFrame>
        <p:nvGraphicFramePr>
          <p:cNvPr id="969" name="Google Shape;969;g3cbfa6e77bc_2_271"/>
          <p:cNvGraphicFramePr/>
          <p:nvPr/>
        </p:nvGraphicFramePr>
        <p:xfrm>
          <a:off x="15250375" y="86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395725"/>
                <a:gridCol w="1588275"/>
                <a:gridCol w="436375"/>
                <a:gridCol w="5148250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가중치가 높은 상위 5개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질문에 의도와 다른 수치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지표별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제거 질문: EI_Q1, SN_Q8, TF_Q3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70" name="Google Shape;970;g3cbfa6e77bc_2_271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g3cbfa6e77bc_2_271" title="가중치높은질문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900" y="3429000"/>
            <a:ext cx="12966599" cy="97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g3cbfa6e77bc_2_271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973" name="Google Shape;973;g3cbfa6e77bc_2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g3cbfa6e77bc_2_271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9" name="Google Shape;979;g3c4a498960b_1_1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g3c4a498960b_1_14"/>
          <p:cNvSpPr txBox="1"/>
          <p:nvPr/>
        </p:nvSpPr>
        <p:spPr>
          <a:xfrm>
            <a:off x="2184400" y="2057400"/>
            <a:ext cx="20015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4B4B4B"/>
                </a:solidFill>
              </a:rPr>
              <a:t>핵심 질문만 남긴다면?</a:t>
            </a:r>
            <a:endParaRPr sz="8000"/>
          </a:p>
        </p:txBody>
      </p:sp>
      <p:pic>
        <p:nvPicPr>
          <p:cNvPr id="981" name="Google Shape;981;g3c4a498960b_1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7947" y="3783150"/>
            <a:ext cx="8902700" cy="8953499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982" name="Google Shape;982;g3c4a498960b_1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6047" y="4278450"/>
            <a:ext cx="3733800" cy="6604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983" name="Google Shape;983;g3c4a498960b_1_14"/>
          <p:cNvSpPr txBox="1"/>
          <p:nvPr/>
        </p:nvSpPr>
        <p:spPr>
          <a:xfrm>
            <a:off x="5234647" y="4418150"/>
            <a:ext cx="3276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</a:rPr>
              <a:t>기존 질문</a:t>
            </a:r>
            <a:endParaRPr/>
          </a:p>
        </p:txBody>
      </p:sp>
      <p:pic>
        <p:nvPicPr>
          <p:cNvPr id="984" name="Google Shape;984;g3c4a498960b_1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24689" y="5307150"/>
            <a:ext cx="2578100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g3c4a498960b_1_14"/>
          <p:cNvSpPr txBox="1"/>
          <p:nvPr/>
        </p:nvSpPr>
        <p:spPr>
          <a:xfrm>
            <a:off x="6076554" y="5935850"/>
            <a:ext cx="1854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>
                <a:solidFill>
                  <a:srgbClr val="FFFFFF"/>
                </a:solidFill>
              </a:rPr>
              <a:t>9가지</a:t>
            </a:r>
            <a:endParaRPr/>
          </a:p>
        </p:txBody>
      </p:sp>
      <p:graphicFrame>
        <p:nvGraphicFramePr>
          <p:cNvPr id="986" name="Google Shape;986;g3c4a498960b_1_14"/>
          <p:cNvGraphicFramePr/>
          <p:nvPr/>
        </p:nvGraphicFramePr>
        <p:xfrm>
          <a:off x="3088347" y="820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395725"/>
                <a:gridCol w="1588275"/>
                <a:gridCol w="436375"/>
                <a:gridCol w="5148250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지표별 9가지 질문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예측률이 낮은 질문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이유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상관관계가 비슷한 질문, 제거 질문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87" name="Google Shape;987;g3c4a498960b_1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53363" y="3783150"/>
            <a:ext cx="8902700" cy="8953499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988" name="Google Shape;988;g3c4a498960b_1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31463" y="4278450"/>
            <a:ext cx="3733800" cy="6604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989" name="Google Shape;989;g3c4a498960b_1_14"/>
          <p:cNvSpPr txBox="1"/>
          <p:nvPr/>
        </p:nvSpPr>
        <p:spPr>
          <a:xfrm>
            <a:off x="15860063" y="4418150"/>
            <a:ext cx="3276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</a:rPr>
              <a:t>기존 질문 </a:t>
            </a:r>
            <a:r>
              <a:rPr lang="en-US" sz="2400">
                <a:solidFill>
                  <a:srgbClr val="FFFFFF"/>
                </a:solidFill>
              </a:rPr>
              <a:t>중 핵심</a:t>
            </a:r>
            <a:endParaRPr/>
          </a:p>
        </p:txBody>
      </p:sp>
      <p:pic>
        <p:nvPicPr>
          <p:cNvPr id="990" name="Google Shape;990;g3c4a498960b_1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50105" y="5307150"/>
            <a:ext cx="2578100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g3c4a498960b_1_14"/>
          <p:cNvSpPr txBox="1"/>
          <p:nvPr/>
        </p:nvSpPr>
        <p:spPr>
          <a:xfrm>
            <a:off x="16701970" y="5935850"/>
            <a:ext cx="1854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00" lIns="0" spcFirstLastPara="1" rIns="0" wrap="square" tIns="410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>
                <a:solidFill>
                  <a:srgbClr val="FFFFFF"/>
                </a:solidFill>
              </a:rPr>
              <a:t>5</a:t>
            </a:r>
            <a:r>
              <a:rPr lang="en-US" sz="3799">
                <a:solidFill>
                  <a:srgbClr val="FFFFFF"/>
                </a:solidFill>
              </a:rPr>
              <a:t>가지</a:t>
            </a:r>
            <a:endParaRPr/>
          </a:p>
        </p:txBody>
      </p:sp>
      <p:graphicFrame>
        <p:nvGraphicFramePr>
          <p:cNvPr id="992" name="Google Shape;992;g3c4a498960b_1_14"/>
          <p:cNvGraphicFramePr/>
          <p:nvPr/>
        </p:nvGraphicFramePr>
        <p:xfrm>
          <a:off x="13713763" y="820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395725"/>
                <a:gridCol w="1588275"/>
                <a:gridCol w="436375"/>
                <a:gridCol w="5148250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지표별 5가지 질문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최적의 조합 5가지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이유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더 높은 정확도가 나오지 않을까?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3" name="Google Shape;993;g3c4a498960b_1_14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994" name="Google Shape;994;g3c4a498960b_1_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g3c4a498960b_1_14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Google Shape;1000;g3c4a498960b_1_48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g3c4a498960b_1_48" title="최적의 질문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100" y="3225150"/>
            <a:ext cx="12995226" cy="992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g3c4a498960b_1_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46725" y="3756085"/>
            <a:ext cx="8902700" cy="8953499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1003" name="Google Shape;1003;g3c4a498960b_1_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38400" y="4920260"/>
            <a:ext cx="6006200" cy="16638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1004" name="Google Shape;1004;g3c4a498960b_1_48"/>
          <p:cNvSpPr txBox="1"/>
          <p:nvPr/>
        </p:nvSpPr>
        <p:spPr>
          <a:xfrm>
            <a:off x="17199835" y="5425973"/>
            <a:ext cx="3796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FFFF"/>
                </a:solidFill>
              </a:rPr>
              <a:t>최적의</a:t>
            </a:r>
            <a:r>
              <a:rPr lang="en-US" sz="3800">
                <a:solidFill>
                  <a:srgbClr val="FFFFFF"/>
                </a:solidFill>
              </a:rPr>
              <a:t> 질문</a:t>
            </a:r>
            <a:endParaRPr sz="3800"/>
          </a:p>
        </p:txBody>
      </p:sp>
      <p:graphicFrame>
        <p:nvGraphicFramePr>
          <p:cNvPr id="1005" name="Google Shape;1005;g3c4a498960b_1_48"/>
          <p:cNvGraphicFramePr/>
          <p:nvPr/>
        </p:nvGraphicFramePr>
        <p:xfrm>
          <a:off x="15250375" y="8175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395725"/>
                <a:gridCol w="1588275"/>
                <a:gridCol w="436375"/>
                <a:gridCol w="5148250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각 지표별 최적의 조합 5개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제거 질문을 고려 후 최적의 조합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예측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/>
                        <a:t>이제 예측률이 올라가지 않을까?</a:t>
                      </a:r>
                      <a:endParaRPr sz="235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6" name="Google Shape;1006;g3c4a498960b_1_48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회귀식에 적용할 새로운 질문 5가지</a:t>
            </a:r>
            <a:endParaRPr/>
          </a:p>
        </p:txBody>
      </p:sp>
      <p:sp>
        <p:nvSpPr>
          <p:cNvPr id="1007" name="Google Shape;1007;g3c4a498960b_1_48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008" name="Google Shape;1008;g3c4a498960b_1_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g3c4a498960b_1_48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g3c4a498960b_1_62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g3c4a498960b_1_62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정확도 0%?</a:t>
            </a:r>
            <a:endParaRPr/>
          </a:p>
        </p:txBody>
      </p:sp>
      <p:pic>
        <p:nvPicPr>
          <p:cNvPr id="1016" name="Google Shape;1016;g3c4a498960b_1_62" title="노이즈제외질문의일치율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600" y="3390600"/>
            <a:ext cx="9584350" cy="90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g3c4a498960b_1_62" title="노이즈제외지표별정확도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27325" y="3581100"/>
            <a:ext cx="9584349" cy="88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g3c4a498960b_1_6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019" name="Google Shape;1019;g3c4a498960b_1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g3c4a498960b_1_62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1025;g3c4a498960b_1_72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g3c4a498960b_1_72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회귀식</a:t>
            </a:r>
            <a:endParaRPr/>
          </a:p>
        </p:txBody>
      </p:sp>
      <p:pic>
        <p:nvPicPr>
          <p:cNvPr id="1027" name="Google Shape;1027;g3c4a498960b_1_72" title="노이즈제외회귀선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125" y="3390600"/>
            <a:ext cx="11964526" cy="95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g3c4a498960b_1_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29175" y="3937400"/>
            <a:ext cx="8902700" cy="8953499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1029" name="Google Shape;1029;g3c4a498960b_1_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20850" y="5101575"/>
            <a:ext cx="6006200" cy="16638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1030" name="Google Shape;1030;g3c4a498960b_1_72"/>
          <p:cNvSpPr txBox="1"/>
          <p:nvPr/>
        </p:nvSpPr>
        <p:spPr>
          <a:xfrm>
            <a:off x="16682285" y="5607288"/>
            <a:ext cx="3796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FFFF"/>
                </a:solidFill>
              </a:rPr>
              <a:t>지표별 제거 질문</a:t>
            </a:r>
            <a:endParaRPr sz="3800"/>
          </a:p>
        </p:txBody>
      </p:sp>
      <p:graphicFrame>
        <p:nvGraphicFramePr>
          <p:cNvPr id="1031" name="Google Shape;1031;g3c4a498960b_1_72"/>
          <p:cNvGraphicFramePr/>
          <p:nvPr/>
        </p:nvGraphicFramePr>
        <p:xfrm>
          <a:off x="14732825" y="835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395725"/>
                <a:gridCol w="1588275"/>
                <a:gridCol w="436375"/>
                <a:gridCol w="5148250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가중치가 높은 상위 5개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질문에 의도와 다른 수치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지표별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제거 질문: EI_Q1, SN_Q8, TF_Q3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2" name="Google Shape;1032;g3c4a498960b_1_72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033" name="Google Shape;1033;g3c4a498960b_1_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g3c4a498960b_1_72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g3c4a498960b_1_10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g3c4a498960b_1_104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5-FOLD 교차 검증이란?</a:t>
            </a:r>
            <a:endParaRPr/>
          </a:p>
        </p:txBody>
      </p:sp>
      <p:pic>
        <p:nvPicPr>
          <p:cNvPr id="1041" name="Google Shape;1041;g3c4a498960b_1_104" title="스크린샷 2026-03-02 1047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300" y="3748150"/>
            <a:ext cx="14913501" cy="78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g3c4a498960b_1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65100" y="3748160"/>
            <a:ext cx="8902700" cy="8953499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1043" name="Google Shape;1043;g3c4a498960b_1_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56775" y="4912335"/>
            <a:ext cx="6006200" cy="16638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1044" name="Google Shape;1044;g3c4a498960b_1_104"/>
          <p:cNvSpPr txBox="1"/>
          <p:nvPr/>
        </p:nvSpPr>
        <p:spPr>
          <a:xfrm>
            <a:off x="17418210" y="5418048"/>
            <a:ext cx="3796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FFFF"/>
                </a:solidFill>
              </a:rPr>
              <a:t>5-FOLD 교차검증</a:t>
            </a:r>
            <a:endParaRPr sz="3800"/>
          </a:p>
        </p:txBody>
      </p:sp>
      <p:graphicFrame>
        <p:nvGraphicFramePr>
          <p:cNvPr id="1045" name="Google Shape;1045;g3c4a498960b_1_104"/>
          <p:cNvGraphicFramePr/>
          <p:nvPr/>
        </p:nvGraphicFramePr>
        <p:xfrm>
          <a:off x="15468750" y="8167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395725"/>
                <a:gridCol w="1588275"/>
                <a:gridCol w="436375"/>
                <a:gridCol w="5148250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전체 데이터를 5등분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4가지 그룹을 학습 시켜 1그룹에 테스트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예측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/>
                        <a:t>5개의 지표를 평균하여 최종 성능 도출</a:t>
                      </a:r>
                      <a:endParaRPr sz="235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6" name="Google Shape;1046;g3c4a498960b_1_104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047" name="Google Shape;1047;g3c4a498960b_1_10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g3c4a498960b_1_104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g3c4a498960b_1_8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g3c4a498960b_1_85" title="5폴드일치율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150" y="3799825"/>
            <a:ext cx="7892927" cy="7527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g3c4a498960b_1_85" title="5폴드지표별정확도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20977" y="3799825"/>
            <a:ext cx="9822823" cy="81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g3c4a498960b_1_85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새로운 예측 방법을 적용한다면?</a:t>
            </a:r>
            <a:endParaRPr/>
          </a:p>
        </p:txBody>
      </p:sp>
      <p:sp>
        <p:nvSpPr>
          <p:cNvPr id="1057" name="Google Shape;1057;g3c4a498960b_1_85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058" name="Google Shape;1058;g3c4a498960b_1_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g3c4a498960b_1_85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oogle Shape;1064;g3c4a498960b_1_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9255" y="3812974"/>
            <a:ext cx="7693775" cy="8953499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1065" name="Google Shape;1065;g3c4a498960b_1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3043" y="5011809"/>
            <a:ext cx="6006200" cy="16638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1066" name="Google Shape;1066;g3c4a498960b_1_124"/>
          <p:cNvSpPr txBox="1"/>
          <p:nvPr/>
        </p:nvSpPr>
        <p:spPr>
          <a:xfrm>
            <a:off x="18204478" y="5517522"/>
            <a:ext cx="3796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FFFF"/>
                </a:solidFill>
              </a:rPr>
              <a:t>Bootstrapping</a:t>
            </a:r>
            <a:endParaRPr sz="3800"/>
          </a:p>
        </p:txBody>
      </p:sp>
      <p:graphicFrame>
        <p:nvGraphicFramePr>
          <p:cNvPr id="1067" name="Google Shape;1067;g3c4a498960b_1_124"/>
          <p:cNvGraphicFramePr/>
          <p:nvPr/>
        </p:nvGraphicFramePr>
        <p:xfrm>
          <a:off x="16407918" y="82672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636125"/>
                <a:gridCol w="1051225"/>
                <a:gridCol w="840550"/>
                <a:gridCol w="4887825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학습 규모를 변화시킴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복원 추출 반복으로 새로운 데이터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이유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데이터 표본이 적을 때 사용하기 좋음.</a:t>
                      </a:r>
                      <a:endParaRPr sz="235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68" name="Google Shape;1068;g3c4a498960b_1_124"/>
          <p:cNvPicPr preferRelativeResize="0"/>
          <p:nvPr/>
        </p:nvPicPr>
        <p:blipFill rotWithShape="1">
          <a:blip r:embed="rId5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g3c4a498960b_1_124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Bootstrapping</a:t>
            </a:r>
            <a:r>
              <a:rPr lang="en-US" sz="4666">
                <a:solidFill>
                  <a:srgbClr val="4B4B4B"/>
                </a:solidFill>
              </a:rPr>
              <a:t>이란?</a:t>
            </a:r>
            <a:endParaRPr/>
          </a:p>
        </p:txBody>
      </p:sp>
      <p:pic>
        <p:nvPicPr>
          <p:cNvPr id="1070" name="Google Shape;1070;g3c4a498960b_1_124" title="스크린샷 2026-03-02 11165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0300" y="3812975"/>
            <a:ext cx="13068701" cy="749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g3c4a498960b_1_124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072" name="Google Shape;1072;g3c4a498960b_1_1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g3c4a498960b_1_124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g3c4a498960b_1_9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g3c4a498960b_1_96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또 다른</a:t>
            </a:r>
            <a:r>
              <a:rPr lang="en-US" sz="4666">
                <a:solidFill>
                  <a:srgbClr val="4B4B4B"/>
                </a:solidFill>
              </a:rPr>
              <a:t> 예측 방법을 적용한다면?</a:t>
            </a:r>
            <a:endParaRPr/>
          </a:p>
        </p:txBody>
      </p:sp>
      <p:pic>
        <p:nvPicPr>
          <p:cNvPr id="1080" name="Google Shape;1080;g3c4a498960b_1_96" title="부트스트래핑 일치율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675" y="4684200"/>
            <a:ext cx="11014217" cy="775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g3c4a498960b_1_96" title="부트스트래핑학습규모변화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99920" y="4684200"/>
            <a:ext cx="6801406" cy="6402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g3c4a498960b_1_96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083" name="Google Shape;1083;g3c4a498960b_1_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g3c4a498960b_1_96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g3c4a498960b_1_137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g3c4a498960b_1_137"/>
          <p:cNvSpPr txBox="1"/>
          <p:nvPr/>
        </p:nvSpPr>
        <p:spPr>
          <a:xfrm>
            <a:off x="3695700" y="1669848"/>
            <a:ext cx="169800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4B4B4B"/>
                </a:solidFill>
              </a:rPr>
              <a:t>전체 지표별 예측 정확도 및 결론</a:t>
            </a:r>
            <a:endParaRPr/>
          </a:p>
        </p:txBody>
      </p:sp>
      <p:pic>
        <p:nvPicPr>
          <p:cNvPr id="1091" name="Google Shape;1091;g3c4a498960b_1_137" title="부트스트래핑지표별정확도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450" y="8078950"/>
            <a:ext cx="7888426" cy="545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g3c4a498960b_1_137" title="5폴드지표별정확도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00" y="7904225"/>
            <a:ext cx="8096250" cy="562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g3c4a498960b_1_137" title="노이즈제외지표별정확도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2450" y="3019300"/>
            <a:ext cx="8008874" cy="505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g3c4a498960b_1_137" title="지표별 예측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875" y="3019300"/>
            <a:ext cx="7505574" cy="482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g3c4a498960b_1_1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41325" y="4385100"/>
            <a:ext cx="8206475" cy="8668400"/>
          </a:xfrm>
          <a:prstGeom prst="rect">
            <a:avLst/>
          </a:prstGeom>
          <a:noFill/>
          <a:ln>
            <a:noFill/>
          </a:ln>
          <a:effectLst>
            <a:outerShdw blurRad="667831">
              <a:srgbClr val="4B4B4B">
                <a:alpha val="9020"/>
              </a:srgbClr>
            </a:outerShdw>
          </a:effectLst>
        </p:spPr>
      </p:pic>
      <p:pic>
        <p:nvPicPr>
          <p:cNvPr id="1096" name="Google Shape;1096;g3c4a498960b_1_1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249525" y="5264185"/>
            <a:ext cx="6006200" cy="1663800"/>
          </a:xfrm>
          <a:prstGeom prst="rect">
            <a:avLst/>
          </a:prstGeom>
          <a:noFill/>
          <a:ln>
            <a:noFill/>
          </a:ln>
          <a:effectLst>
            <a:outerShdw blurRad="36620">
              <a:srgbClr val="9E9E9E">
                <a:alpha val="16860"/>
              </a:srgbClr>
            </a:outerShdw>
          </a:effectLst>
        </p:spPr>
      </p:pic>
      <p:sp>
        <p:nvSpPr>
          <p:cNvPr id="1097" name="Google Shape;1097;g3c4a498960b_1_137"/>
          <p:cNvSpPr txBox="1"/>
          <p:nvPr/>
        </p:nvSpPr>
        <p:spPr>
          <a:xfrm>
            <a:off x="18222475" y="5769900"/>
            <a:ext cx="4302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FFFF"/>
                </a:solidFill>
              </a:rPr>
              <a:t>전체 지표별 정확도</a:t>
            </a:r>
            <a:endParaRPr sz="3800"/>
          </a:p>
        </p:txBody>
      </p:sp>
      <p:graphicFrame>
        <p:nvGraphicFramePr>
          <p:cNvPr id="1098" name="Google Shape;1098;g3c4a498960b_1_137"/>
          <p:cNvGraphicFramePr/>
          <p:nvPr/>
        </p:nvGraphicFramePr>
        <p:xfrm>
          <a:off x="16461500" y="85196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{E689437E-92BA-49BE-A26C-EBE7FB27BBBE}</a:tableStyleId>
              </a:tblPr>
              <a:tblGrid>
                <a:gridCol w="395725"/>
                <a:gridCol w="1588275"/>
                <a:gridCol w="436375"/>
                <a:gridCol w="5148250"/>
              </a:tblGrid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전체 </a:t>
                      </a: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지표별 데이터 정확도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B4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방식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예측 정확도가 처음에 비해 증가함.</a:t>
                      </a:r>
                      <a:endParaRPr sz="11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>
                          <a:solidFill>
                            <a:srgbClr val="4B4B4B"/>
                          </a:solidFill>
                        </a:rPr>
                        <a:t>결론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/>
                        <a:t>MBTI 예측 12.5%~47.92%</a:t>
                      </a:r>
                      <a:endParaRPr sz="235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E7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9" name="Google Shape;1099;g3c4a498960b_1_137"/>
          <p:cNvSpPr txBox="1"/>
          <p:nvPr/>
        </p:nvSpPr>
        <p:spPr>
          <a:xfrm>
            <a:off x="1003300" y="850900"/>
            <a:ext cx="71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0</a:t>
            </a:r>
            <a:r>
              <a:rPr b="1" lang="en-US" sz="3200">
                <a:solidFill>
                  <a:srgbClr val="9964A3"/>
                </a:solidFill>
              </a:rPr>
              <a:t>9</a:t>
            </a:r>
            <a:endParaRPr b="1"/>
          </a:p>
        </p:txBody>
      </p:sp>
      <p:pic>
        <p:nvPicPr>
          <p:cNvPr id="1100" name="Google Shape;1100;g3c4a498960b_1_1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g3c4a498960b_1_137"/>
          <p:cNvSpPr txBox="1"/>
          <p:nvPr/>
        </p:nvSpPr>
        <p:spPr>
          <a:xfrm>
            <a:off x="2108200" y="850900"/>
            <a:ext cx="1076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rtl="0" algn="l">
              <a:lnSpc>
                <a:spcPct val="131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33">
                <a:solidFill>
                  <a:srgbClr val="9964A3"/>
                </a:solidFill>
              </a:rPr>
              <a:t>자체 설문 데이터 × 기존 데이터 비교분석 &amp; MBTI 예측</a:t>
            </a:r>
            <a:endParaRPr>
              <a:solidFill>
                <a:srgbClr val="9964A3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14781">
            <a:off x="5664200" y="8661400"/>
            <a:ext cx="65532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20"/>
          <p:cNvSpPr txBox="1"/>
          <p:nvPr/>
        </p:nvSpPr>
        <p:spPr>
          <a:xfrm>
            <a:off x="2108200" y="812800"/>
            <a:ext cx="36957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9964A3"/>
                </a:solidFill>
              </a:rPr>
              <a:t>최종 결론</a:t>
            </a:r>
            <a:endParaRPr b="1"/>
          </a:p>
        </p:txBody>
      </p:sp>
      <p:sp>
        <p:nvSpPr>
          <p:cNvPr id="1108" name="Google Shape;1108;p20"/>
          <p:cNvSpPr txBox="1"/>
          <p:nvPr/>
        </p:nvSpPr>
        <p:spPr>
          <a:xfrm>
            <a:off x="1003300" y="850900"/>
            <a:ext cx="711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25" lIns="0" spcFirstLastPara="1" rIns="0" wrap="square" tIns="3452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64A3"/>
                </a:solidFill>
              </a:rPr>
              <a:t>10</a:t>
            </a:r>
            <a:endParaRPr b="1"/>
          </a:p>
        </p:txBody>
      </p:sp>
      <p:pic>
        <p:nvPicPr>
          <p:cNvPr id="1109" name="Google Shape;11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638300" y="1092200"/>
            <a:ext cx="3683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20"/>
          <p:cNvPicPr preferRelativeResize="0"/>
          <p:nvPr/>
        </p:nvPicPr>
        <p:blipFill rotWithShape="1">
          <a:blip r:embed="rId5">
            <a:alphaModFix amt="25000"/>
          </a:blip>
          <a:srcRect b="0" l="0" r="0" t="0"/>
          <a:stretch/>
        </p:blipFill>
        <p:spPr>
          <a:xfrm>
            <a:off x="1054100" y="1574800"/>
            <a:ext cx="22263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20"/>
          <p:cNvSpPr txBox="1"/>
          <p:nvPr/>
        </p:nvSpPr>
        <p:spPr>
          <a:xfrm>
            <a:off x="2832100" y="2387600"/>
            <a:ext cx="18719800" cy="9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0" spcFirstLastPara="1" rIns="0" wrap="square" tIns="50375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66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최종 결론</a:t>
            </a:r>
            <a:endParaRPr/>
          </a:p>
        </p:txBody>
      </p:sp>
      <p:pic>
        <p:nvPicPr>
          <p:cNvPr id="1112" name="Google Shape;111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8300" y="3949700"/>
            <a:ext cx="8890000" cy="4521200"/>
          </a:xfrm>
          <a:prstGeom prst="rect">
            <a:avLst/>
          </a:prstGeom>
          <a:noFill/>
          <a:ln>
            <a:noFill/>
          </a:ln>
          <a:effectLst>
            <a:outerShdw blurRad="338834">
              <a:srgbClr val="4B4B4B">
                <a:alpha val="9019"/>
              </a:srgbClr>
            </a:outerShdw>
          </a:effectLst>
        </p:spPr>
      </p:pic>
      <p:pic>
        <p:nvPicPr>
          <p:cNvPr id="1113" name="Google Shape;111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7700" y="4267200"/>
            <a:ext cx="8318500" cy="1003300"/>
          </a:xfrm>
          <a:prstGeom prst="rect">
            <a:avLst/>
          </a:prstGeom>
          <a:noFill/>
          <a:ln>
            <a:noFill/>
          </a:ln>
          <a:effectLst>
            <a:outerShdw blurRad="55456">
              <a:srgbClr val="9E9E9E">
                <a:alpha val="16862"/>
              </a:srgbClr>
            </a:outerShdw>
          </a:effectLst>
        </p:spPr>
      </p:pic>
      <p:sp>
        <p:nvSpPr>
          <p:cNvPr id="1114" name="Google Shape;1114;p20"/>
          <p:cNvSpPr txBox="1"/>
          <p:nvPr/>
        </p:nvSpPr>
        <p:spPr>
          <a:xfrm>
            <a:off x="3200400" y="4470400"/>
            <a:ext cx="5753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통계적 유의성 ≠ 실질적 의미</a:t>
            </a:r>
            <a:endParaRPr/>
          </a:p>
        </p:txBody>
      </p:sp>
      <p:sp>
        <p:nvSpPr>
          <p:cNvPr id="1115" name="Google Shape;1115;p20"/>
          <p:cNvSpPr txBox="1"/>
          <p:nvPr/>
        </p:nvSpPr>
        <p:spPr>
          <a:xfrm>
            <a:off x="1727200" y="5549900"/>
            <a:ext cx="86994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2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66" u="none" cap="none" strike="noStrike">
                <a:solidFill>
                  <a:srgbClr val="9964A3"/>
                </a:solidFill>
              </a:rPr>
              <a:t>p &lt; 0.001이 나오더라도, </a:t>
            </a:r>
            <a:endParaRPr b="1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66" u="none" cap="none" strike="noStrike">
                <a:solidFill>
                  <a:srgbClr val="9964A3"/>
                </a:solidFill>
              </a:rPr>
              <a:t>효과 크기가 작으면 실질적으로 </a:t>
            </a:r>
            <a:endParaRPr b="1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66" u="none" cap="none" strike="noStrike">
                <a:solidFill>
                  <a:srgbClr val="9964A3"/>
                </a:solidFill>
              </a:rPr>
              <a:t>의미 없는 차이일 수 있다.</a:t>
            </a:r>
            <a:endParaRPr b="1"/>
          </a:p>
        </p:txBody>
      </p:sp>
      <p:pic>
        <p:nvPicPr>
          <p:cNvPr id="1116" name="Google Shape;1116;p20"/>
          <p:cNvPicPr preferRelativeResize="0"/>
          <p:nvPr/>
        </p:nvPicPr>
        <p:blipFill rotWithShape="1">
          <a:blip r:embed="rId8">
            <a:alphaModFix amt="4000"/>
          </a:blip>
          <a:srcRect b="0" l="0" r="0" t="0"/>
          <a:stretch/>
        </p:blipFill>
        <p:spPr>
          <a:xfrm>
            <a:off x="5156975" y="9537700"/>
            <a:ext cx="14316349" cy="2946400"/>
          </a:xfrm>
          <a:prstGeom prst="rect">
            <a:avLst/>
          </a:prstGeom>
          <a:noFill/>
          <a:ln>
            <a:noFill/>
          </a:ln>
          <a:effectLst>
            <a:outerShdw blurRad="220662">
              <a:srgbClr val="4B4B4B">
                <a:alpha val="9019"/>
              </a:srgbClr>
            </a:outerShdw>
          </a:effectLst>
        </p:spPr>
      </p:pic>
      <p:pic>
        <p:nvPicPr>
          <p:cNvPr id="1117" name="Google Shape;111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848626">
            <a:off x="12128500" y="8623300"/>
            <a:ext cx="6604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20"/>
          <p:cNvSpPr txBox="1"/>
          <p:nvPr/>
        </p:nvSpPr>
        <p:spPr>
          <a:xfrm>
            <a:off x="6529450" y="10159900"/>
            <a:ext cx="119382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9964A3"/>
                </a:solidFill>
              </a:rPr>
              <a:t>성격은 MBTI나 혈액형으로 정의할 수 없다</a:t>
            </a:r>
            <a:endParaRPr b="1" sz="3200"/>
          </a:p>
        </p:txBody>
      </p:sp>
      <p:pic>
        <p:nvPicPr>
          <p:cNvPr id="1119" name="Google Shape;111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630400" y="3949700"/>
            <a:ext cx="8890000" cy="4521200"/>
          </a:xfrm>
          <a:prstGeom prst="rect">
            <a:avLst/>
          </a:prstGeom>
          <a:noFill/>
          <a:ln>
            <a:noFill/>
          </a:ln>
          <a:effectLst>
            <a:outerShdw blurRad="338834">
              <a:srgbClr val="4B4B4B">
                <a:alpha val="9019"/>
              </a:srgbClr>
            </a:outerShdw>
          </a:effectLst>
        </p:spPr>
      </p:pic>
      <p:sp>
        <p:nvSpPr>
          <p:cNvPr id="1120" name="Google Shape;1120;p20"/>
          <p:cNvSpPr txBox="1"/>
          <p:nvPr/>
        </p:nvSpPr>
        <p:spPr>
          <a:xfrm>
            <a:off x="14814500" y="4940188"/>
            <a:ext cx="85218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7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800">
                <a:solidFill>
                  <a:srgbClr val="9964A3"/>
                </a:solidFill>
              </a:rPr>
            </a:br>
            <a:r>
              <a:rPr b="1" lang="en-US" sz="4600">
                <a:solidFill>
                  <a:srgbClr val="9964A3"/>
                </a:solidFill>
              </a:rPr>
              <a:t>적은 시간에 따른 적은 표본,</a:t>
            </a:r>
            <a:br>
              <a:rPr b="1" lang="en-US" sz="4600">
                <a:solidFill>
                  <a:srgbClr val="9964A3"/>
                </a:solidFill>
              </a:rPr>
            </a:br>
            <a:r>
              <a:rPr b="1" lang="en-US" sz="4600">
                <a:solidFill>
                  <a:srgbClr val="9964A3"/>
                </a:solidFill>
              </a:rPr>
              <a:t>지표를 예측하기 애매한 질문,</a:t>
            </a:r>
            <a:br>
              <a:rPr b="1" lang="en-US" sz="4600">
                <a:solidFill>
                  <a:srgbClr val="9964A3"/>
                </a:solidFill>
              </a:rPr>
            </a:br>
            <a:r>
              <a:rPr b="1" lang="en-US" sz="4600">
                <a:solidFill>
                  <a:srgbClr val="9964A3"/>
                </a:solidFill>
              </a:rPr>
              <a:t>설문조사와 MBTI자체에 대한 한계</a:t>
            </a:r>
            <a:endParaRPr b="1" sz="4600"/>
          </a:p>
        </p:txBody>
      </p:sp>
      <p:pic>
        <p:nvPicPr>
          <p:cNvPr id="1121" name="Google Shape;112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922500" y="4267200"/>
            <a:ext cx="8318500" cy="1003300"/>
          </a:xfrm>
          <a:prstGeom prst="rect">
            <a:avLst/>
          </a:prstGeom>
          <a:noFill/>
          <a:ln>
            <a:noFill/>
          </a:ln>
          <a:effectLst>
            <a:outerShdw blurRad="55456">
              <a:srgbClr val="9E9E9E">
                <a:alpha val="16862"/>
              </a:srgbClr>
            </a:outerShdw>
          </a:effectLst>
        </p:spPr>
      </p:pic>
      <p:sp>
        <p:nvSpPr>
          <p:cNvPr id="1122" name="Google Shape;1122;p20"/>
          <p:cNvSpPr txBox="1"/>
          <p:nvPr/>
        </p:nvSpPr>
        <p:spPr>
          <a:xfrm>
            <a:off x="16205200" y="4470400"/>
            <a:ext cx="57531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3">
                <a:solidFill>
                  <a:srgbClr val="FFFFFF"/>
                </a:solidFill>
              </a:rPr>
              <a:t>한계점</a:t>
            </a:r>
            <a:endParaRPr/>
          </a:p>
        </p:txBody>
      </p:sp>
      <p:sp>
        <p:nvSpPr>
          <p:cNvPr id="1123" name="Google Shape;1123;p20"/>
          <p:cNvSpPr txBox="1"/>
          <p:nvPr/>
        </p:nvSpPr>
        <p:spPr>
          <a:xfrm>
            <a:off x="6529450" y="11086900"/>
            <a:ext cx="119382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9964A3"/>
                </a:solidFill>
              </a:rPr>
              <a:t>기존의 MBTI 검사를 대체하기 어렵다</a:t>
            </a:r>
            <a:endParaRPr b="1" sz="32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7"/>
        </a:solidFill>
      </p:bgPr>
    </p:bg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" name="Google Shape;1128;g3c4a498960b_0_6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40000">
            <a:off x="20002500" y="28956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g3c4a498960b_0_6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760000">
            <a:off x="17716500" y="4940300"/>
            <a:ext cx="2705100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g3c4a498960b_0_6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760000">
            <a:off x="16776700" y="7861299"/>
            <a:ext cx="2705100" cy="922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g3c4a498960b_0_603"/>
          <p:cNvSpPr txBox="1"/>
          <p:nvPr/>
        </p:nvSpPr>
        <p:spPr>
          <a:xfrm>
            <a:off x="1054875" y="4366009"/>
            <a:ext cx="15913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1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67">
                <a:solidFill>
                  <a:srgbClr val="4B4B4B"/>
                </a:solidFill>
              </a:rPr>
              <a:t>경청해주셔서 감사합니다.</a:t>
            </a:r>
            <a:endParaRPr sz="5911"/>
          </a:p>
        </p:txBody>
      </p:sp>
      <p:sp>
        <p:nvSpPr>
          <p:cNvPr id="1132" name="Google Shape;1132;g3c4a498960b_0_603"/>
          <p:cNvSpPr txBox="1"/>
          <p:nvPr/>
        </p:nvSpPr>
        <p:spPr>
          <a:xfrm>
            <a:off x="1054875" y="1863300"/>
            <a:ext cx="110952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875" lIns="0" spcFirstLastPara="1" rIns="0" wrap="square" tIns="12287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98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5911"/>
          </a:p>
        </p:txBody>
      </p:sp>
      <p:pic>
        <p:nvPicPr>
          <p:cNvPr id="1133" name="Google Shape;1133;g3c4a498960b_0_603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1993900" y="10833100"/>
            <a:ext cx="20408902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g3c4a498960b_0_603"/>
          <p:cNvSpPr txBox="1"/>
          <p:nvPr/>
        </p:nvSpPr>
        <p:spPr>
          <a:xfrm>
            <a:off x="4241800" y="11125200"/>
            <a:ext cx="15913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595959"/>
                </a:solidFill>
              </a:rPr>
              <a:t>Date : 2026.0</a:t>
            </a:r>
            <a:r>
              <a:rPr b="1" lang="en-US" sz="3333">
                <a:solidFill>
                  <a:srgbClr val="595959"/>
                </a:solidFill>
              </a:rPr>
              <a:t>3.02</a:t>
            </a:r>
            <a:r>
              <a:rPr b="1" i="0" lang="en-US" sz="3333" u="none" cap="none" strike="noStrike">
                <a:solidFill>
                  <a:srgbClr val="595959"/>
                </a:solidFill>
              </a:rPr>
              <a:t>  |  Team : Team </a:t>
            </a:r>
            <a:r>
              <a:rPr b="1" lang="en-US" sz="3333">
                <a:solidFill>
                  <a:srgbClr val="595959"/>
                </a:solidFill>
              </a:rPr>
              <a:t>2</a:t>
            </a:r>
            <a:r>
              <a:rPr b="1" i="0" lang="en-US" sz="3333" u="none" cap="none" strike="noStrike">
                <a:solidFill>
                  <a:srgbClr val="595959"/>
                </a:solidFill>
              </a:rPr>
              <a:t>  |  Presenter : </a:t>
            </a:r>
            <a:r>
              <a:rPr b="1" lang="en-US" sz="3300">
                <a:solidFill>
                  <a:srgbClr val="4B4B4B"/>
                </a:solidFill>
              </a:rPr>
              <a:t>장윤진, 박준영, 이유경, 이창민</a:t>
            </a:r>
            <a:endParaRPr b="1"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